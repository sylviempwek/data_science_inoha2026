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Garet Bold" charset="1" panose="00000000000000000000"/>
      <p:regular r:id="rId38"/>
    </p:embeddedFont>
    <p:embeddedFont>
      <p:font typeface="Garet" charset="1" panose="00000000000000000000"/>
      <p:regular r:id="rId39"/>
    </p:embeddedFont>
    <p:embeddedFont>
      <p:font typeface="Century Gothic Paneuropean Bold" charset="1" panose="020B0702020202020204"/>
      <p:regular r:id="rId40"/>
    </p:embeddedFont>
    <p:embeddedFont>
      <p:font typeface="Century Gothic Paneuropean" charset="1" panose="020B0502020202020204"/>
      <p:regular r:id="rId41"/>
    </p:embeddedFont>
    <p:embeddedFont>
      <p:font typeface="Century Gothic Paneuropean Italics" charset="1" panose="020B0502020202090204"/>
      <p:regular r:id="rId42"/>
    </p:embeddedFont>
    <p:embeddedFont>
      <p:font typeface="Copperplate Gothic 32 AB" charset="1" panose="020E0807020206020404"/>
      <p:regular r:id="rId43"/>
    </p:embeddedFont>
    <p:embeddedFont>
      <p:font typeface="Arimo" charset="1" panose="020B0604020202020204"/>
      <p:regular r:id="rId44"/>
    </p:embeddedFont>
    <p:embeddedFont>
      <p:font typeface="Georgia" charset="1" panose="02040502050405020303"/>
      <p:regular r:id="rId45"/>
    </p:embeddedFont>
    <p:embeddedFont>
      <p:font typeface="Georgia Bold" charset="1" panose="02040802050405020203"/>
      <p:regular r:id="rId46"/>
    </p:embeddedFont>
    <p:embeddedFont>
      <p:font typeface="Georgia Italics" charset="1" panose="02040502050405090303"/>
      <p:regular r:id="rId47"/>
    </p:embeddedFont>
    <p:embeddedFont>
      <p:font typeface="Arimo Bold Italics" charset="1" panose="020B0704020202090204"/>
      <p:regular r:id="rId48"/>
    </p:embeddedFont>
    <p:embeddedFont>
      <p:font typeface="Arimo Bold" charset="1" panose="020B0704020202020204"/>
      <p:regular r:id="rId49"/>
    </p:embeddedFont>
    <p:embeddedFont>
      <p:font typeface="Helvetica" charset="1" panose="020B0504020202020204"/>
      <p:regular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46" Target="fonts/font46.fntdata" Type="http://schemas.openxmlformats.org/officeDocument/2006/relationships/font"/><Relationship Id="rId47" Target="fonts/font47.fntdata" Type="http://schemas.openxmlformats.org/officeDocument/2006/relationships/font"/><Relationship Id="rId48" Target="fonts/font48.fntdata" Type="http://schemas.openxmlformats.org/officeDocument/2006/relationships/font"/><Relationship Id="rId49" Target="fonts/font49.fntdata" Type="http://schemas.openxmlformats.org/officeDocument/2006/relationships/font"/><Relationship Id="rId5" Target="tableStyles.xml" Type="http://schemas.openxmlformats.org/officeDocument/2006/relationships/tableStyles"/><Relationship Id="rId50" Target="fonts/font50.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 Id="rId3" Target="../media/image18.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2804787"/>
            <a:ext cx="10826857" cy="1912000"/>
          </a:xfrm>
          <a:prstGeom prst="rect">
            <a:avLst/>
          </a:prstGeom>
        </p:spPr>
        <p:txBody>
          <a:bodyPr anchor="t" rtlCol="false" tIns="0" lIns="0" bIns="0" rIns="0">
            <a:spAutoFit/>
          </a:bodyPr>
          <a:lstStyle/>
          <a:p>
            <a:pPr algn="l">
              <a:lnSpc>
                <a:spcPts val="7400"/>
              </a:lnSpc>
            </a:pPr>
            <a:r>
              <a:rPr lang="en-US" b="true" sz="7400" spc="-148">
                <a:solidFill>
                  <a:srgbClr val="49139C"/>
                </a:solidFill>
                <a:latin typeface="Garet Bold"/>
                <a:ea typeface="Garet Bold"/>
                <a:cs typeface="Garet Bold"/>
                <a:sym typeface="Garet Bold"/>
              </a:rPr>
              <a:t>Formation Machine Learning </a:t>
            </a:r>
          </a:p>
        </p:txBody>
      </p:sp>
      <p:sp>
        <p:nvSpPr>
          <p:cNvPr name="TextBox 3" id="3"/>
          <p:cNvSpPr txBox="true"/>
          <p:nvPr/>
        </p:nvSpPr>
        <p:spPr>
          <a:xfrm rot="0">
            <a:off x="1028700" y="8379460"/>
            <a:ext cx="4465242" cy="878840"/>
          </a:xfrm>
          <a:prstGeom prst="rect">
            <a:avLst/>
          </a:prstGeom>
        </p:spPr>
        <p:txBody>
          <a:bodyPr anchor="t" rtlCol="false" tIns="0" lIns="0" bIns="0" rIns="0">
            <a:spAutoFit/>
          </a:bodyPr>
          <a:lstStyle/>
          <a:p>
            <a:pPr algn="l">
              <a:lnSpc>
                <a:spcPts val="3519"/>
              </a:lnSpc>
            </a:pPr>
            <a:r>
              <a:rPr lang="en-US" sz="3199" spc="-31">
                <a:solidFill>
                  <a:srgbClr val="A6A6A6"/>
                </a:solidFill>
                <a:latin typeface="Garet"/>
                <a:ea typeface="Garet"/>
                <a:cs typeface="Garet"/>
                <a:sym typeface="Garet"/>
              </a:rPr>
              <a:t>Onesime Mbulayi</a:t>
            </a:r>
          </a:p>
          <a:p>
            <a:pPr algn="l" marL="0" indent="0" lvl="0">
              <a:lnSpc>
                <a:spcPts val="3519"/>
              </a:lnSpc>
              <a:spcBef>
                <a:spcPct val="0"/>
              </a:spcBef>
            </a:pPr>
            <a:r>
              <a:rPr lang="en-US" sz="3199" spc="-31">
                <a:solidFill>
                  <a:srgbClr val="A6A6A6"/>
                </a:solidFill>
                <a:latin typeface="Garet"/>
                <a:ea typeface="Garet"/>
                <a:cs typeface="Garet"/>
                <a:sym typeface="Garet"/>
              </a:rPr>
              <a:t>Le Coach</a:t>
            </a:r>
          </a:p>
        </p:txBody>
      </p:sp>
      <p:sp>
        <p:nvSpPr>
          <p:cNvPr name="TextBox 4" id="4"/>
          <p:cNvSpPr txBox="true"/>
          <p:nvPr/>
        </p:nvSpPr>
        <p:spPr>
          <a:xfrm rot="0">
            <a:off x="1028700" y="4792987"/>
            <a:ext cx="6452887" cy="592178"/>
          </a:xfrm>
          <a:prstGeom prst="rect">
            <a:avLst/>
          </a:prstGeom>
        </p:spPr>
        <p:txBody>
          <a:bodyPr anchor="t" rtlCol="false" tIns="0" lIns="0" bIns="0" rIns="0">
            <a:spAutoFit/>
          </a:bodyPr>
          <a:lstStyle/>
          <a:p>
            <a:pPr algn="l">
              <a:lnSpc>
                <a:spcPts val="4410"/>
              </a:lnSpc>
            </a:pPr>
            <a:r>
              <a:rPr lang="en-US" b="true" sz="4410" spc="-88">
                <a:solidFill>
                  <a:srgbClr val="7ED4FE"/>
                </a:solidFill>
                <a:latin typeface="Garet Bold"/>
                <a:ea typeface="Garet Bold"/>
                <a:cs typeface="Garet Bold"/>
                <a:sym typeface="Garet Bold"/>
              </a:rPr>
              <a:t>Niveau Intermédiaire</a:t>
            </a:r>
          </a:p>
        </p:txBody>
      </p:sp>
      <p:sp>
        <p:nvSpPr>
          <p:cNvPr name="Freeform 5" id="5"/>
          <p:cNvSpPr/>
          <p:nvPr/>
        </p:nvSpPr>
        <p:spPr>
          <a:xfrm flipH="true" flipV="false" rot="0">
            <a:off x="11339378" y="1567581"/>
            <a:ext cx="6277726" cy="6357191"/>
          </a:xfrm>
          <a:custGeom>
            <a:avLst/>
            <a:gdLst/>
            <a:ahLst/>
            <a:cxnLst/>
            <a:rect r="r" b="b" t="t" l="l"/>
            <a:pathLst>
              <a:path h="6357191" w="6277726">
                <a:moveTo>
                  <a:pt x="6277726" y="0"/>
                </a:moveTo>
                <a:lnTo>
                  <a:pt x="0" y="0"/>
                </a:lnTo>
                <a:lnTo>
                  <a:pt x="0" y="6357191"/>
                </a:lnTo>
                <a:lnTo>
                  <a:pt x="6277726" y="6357191"/>
                </a:lnTo>
                <a:lnTo>
                  <a:pt x="6277726"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730572" y="4351587"/>
            <a:ext cx="10826857" cy="978550"/>
          </a:xfrm>
          <a:prstGeom prst="rect">
            <a:avLst/>
          </a:prstGeom>
        </p:spPr>
        <p:txBody>
          <a:bodyPr anchor="t" rtlCol="false" tIns="0" lIns="0" bIns="0" rIns="0">
            <a:spAutoFit/>
          </a:bodyPr>
          <a:lstStyle/>
          <a:p>
            <a:pPr algn="ctr">
              <a:lnSpc>
                <a:spcPts val="7400"/>
              </a:lnSpc>
            </a:pPr>
            <a:r>
              <a:rPr lang="en-US" b="true" sz="7400" spc="-148">
                <a:solidFill>
                  <a:srgbClr val="49139C"/>
                </a:solidFill>
                <a:latin typeface="Garet Bold"/>
                <a:ea typeface="Garet Bold"/>
                <a:cs typeface="Garet Bold"/>
                <a:sym typeface="Garet Bold"/>
              </a:rPr>
              <a:t>Machine Learning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1028700"/>
            <a:ext cx="11845014" cy="1095375"/>
          </a:xfrm>
          <a:prstGeom prst="rect">
            <a:avLst/>
          </a:prstGeom>
        </p:spPr>
        <p:txBody>
          <a:bodyPr anchor="t" rtlCol="false" tIns="0" lIns="0" bIns="0" rIns="0">
            <a:spAutoFit/>
          </a:bodyPr>
          <a:lstStyle/>
          <a:p>
            <a:pPr algn="l">
              <a:lnSpc>
                <a:spcPts val="8640"/>
              </a:lnSpc>
              <a:spcBef>
                <a:spcPct val="0"/>
              </a:spcBef>
            </a:pPr>
            <a:r>
              <a:rPr lang="en-US" b="true" sz="7200" spc="-144">
                <a:solidFill>
                  <a:srgbClr val="49139C"/>
                </a:solidFill>
                <a:latin typeface="Garet Bold"/>
                <a:ea typeface="Garet Bold"/>
                <a:cs typeface="Garet Bold"/>
                <a:sym typeface="Garet Bold"/>
              </a:rPr>
              <a:t>Machine Learning</a:t>
            </a:r>
          </a:p>
        </p:txBody>
      </p:sp>
      <p:sp>
        <p:nvSpPr>
          <p:cNvPr name="TextBox 3" id="3"/>
          <p:cNvSpPr txBox="true"/>
          <p:nvPr/>
        </p:nvSpPr>
        <p:spPr>
          <a:xfrm rot="0">
            <a:off x="1028700" y="2384117"/>
            <a:ext cx="15916447" cy="1844984"/>
          </a:xfrm>
          <a:prstGeom prst="rect">
            <a:avLst/>
          </a:prstGeom>
        </p:spPr>
        <p:txBody>
          <a:bodyPr anchor="t" rtlCol="false" tIns="0" lIns="0" bIns="0" rIns="0">
            <a:spAutoFit/>
          </a:bodyPr>
          <a:lstStyle/>
          <a:p>
            <a:pPr algn="l">
              <a:lnSpc>
                <a:spcPts val="4997"/>
              </a:lnSpc>
            </a:pPr>
            <a:r>
              <a:rPr lang="en-US" sz="2855">
                <a:solidFill>
                  <a:srgbClr val="000000"/>
                </a:solidFill>
                <a:latin typeface="Garet"/>
                <a:ea typeface="Garet"/>
                <a:cs typeface="Garet"/>
                <a:sym typeface="Garet"/>
              </a:rPr>
              <a:t>Arthur </a:t>
            </a:r>
            <a:r>
              <a:rPr lang="en-US" sz="2855" u="none">
                <a:solidFill>
                  <a:srgbClr val="000000"/>
                </a:solidFill>
                <a:latin typeface="Garet"/>
                <a:ea typeface="Garet"/>
                <a:cs typeface="Garet"/>
                <a:sym typeface="Garet"/>
              </a:rPr>
              <a:t>Samuel, a pioneer in the field of artificial intelligence and computer gaming, coined the term “Machine Learning” as – “Field of study that gives computers the capability to learn without being explicitly programmed”.</a:t>
            </a:r>
          </a:p>
        </p:txBody>
      </p:sp>
      <p:sp>
        <p:nvSpPr>
          <p:cNvPr name="TextBox 4" id="4"/>
          <p:cNvSpPr txBox="true"/>
          <p:nvPr/>
        </p:nvSpPr>
        <p:spPr>
          <a:xfrm rot="0">
            <a:off x="1028700" y="4487297"/>
            <a:ext cx="15916447" cy="581562"/>
          </a:xfrm>
          <a:prstGeom prst="rect">
            <a:avLst/>
          </a:prstGeom>
        </p:spPr>
        <p:txBody>
          <a:bodyPr anchor="t" rtlCol="false" tIns="0" lIns="0" bIns="0" rIns="0">
            <a:spAutoFit/>
          </a:bodyPr>
          <a:lstStyle/>
          <a:p>
            <a:pPr algn="l">
              <a:lnSpc>
                <a:spcPts val="4997"/>
              </a:lnSpc>
            </a:pPr>
            <a:r>
              <a:rPr lang="en-US" b="true" sz="2855">
                <a:solidFill>
                  <a:srgbClr val="000000"/>
                </a:solidFill>
                <a:latin typeface="Garet Bold"/>
                <a:ea typeface="Garet Bold"/>
                <a:cs typeface="Garet Bold"/>
                <a:sym typeface="Garet Bold"/>
              </a:rPr>
              <a:t>H</a:t>
            </a:r>
            <a:r>
              <a:rPr lang="en-US" b="true" sz="2855" u="none">
                <a:solidFill>
                  <a:srgbClr val="000000"/>
                </a:solidFill>
                <a:latin typeface="Garet Bold"/>
                <a:ea typeface="Garet Bold"/>
                <a:cs typeface="Garet Bold"/>
                <a:sym typeface="Garet Bold"/>
              </a:rPr>
              <a:t>ow it is different from traditional Programming: </a:t>
            </a:r>
          </a:p>
        </p:txBody>
      </p:sp>
      <p:sp>
        <p:nvSpPr>
          <p:cNvPr name="TextBox 5" id="5"/>
          <p:cNvSpPr txBox="true"/>
          <p:nvPr/>
        </p:nvSpPr>
        <p:spPr>
          <a:xfrm rot="0">
            <a:off x="858666" y="5921154"/>
            <a:ext cx="10730397" cy="3737057"/>
          </a:xfrm>
          <a:prstGeom prst="rect">
            <a:avLst/>
          </a:prstGeom>
        </p:spPr>
        <p:txBody>
          <a:bodyPr anchor="t" rtlCol="false" tIns="0" lIns="0" bIns="0" rIns="0">
            <a:spAutoFit/>
          </a:bodyPr>
          <a:lstStyle/>
          <a:p>
            <a:pPr algn="l" marL="616601" indent="-308300" lvl="1">
              <a:lnSpc>
                <a:spcPts val="4997"/>
              </a:lnSpc>
              <a:buFont typeface="Arial"/>
              <a:buChar char="•"/>
            </a:pPr>
            <a:r>
              <a:rPr lang="en-US" sz="2855">
                <a:solidFill>
                  <a:srgbClr val="000000"/>
                </a:solidFill>
                <a:latin typeface="Garet"/>
                <a:ea typeface="Garet"/>
                <a:cs typeface="Garet"/>
                <a:sym typeface="Garet"/>
              </a:rPr>
              <a:t>In Tradition</a:t>
            </a:r>
            <a:r>
              <a:rPr lang="en-US" sz="2855" u="none">
                <a:solidFill>
                  <a:srgbClr val="000000"/>
                </a:solidFill>
                <a:latin typeface="Garet"/>
                <a:ea typeface="Garet"/>
                <a:cs typeface="Garet"/>
                <a:sym typeface="Garet"/>
              </a:rPr>
              <a:t>al Programming, we feed the Input, Program logic and run the program to get output.</a:t>
            </a:r>
          </a:p>
          <a:p>
            <a:pPr algn="l" marL="616601" indent="-308300" lvl="1">
              <a:lnSpc>
                <a:spcPts val="4997"/>
              </a:lnSpc>
              <a:buFont typeface="Arial"/>
              <a:buChar char="•"/>
            </a:pPr>
            <a:r>
              <a:rPr lang="en-US" sz="2855" u="none">
                <a:solidFill>
                  <a:srgbClr val="000000"/>
                </a:solidFill>
                <a:latin typeface="Garet"/>
                <a:ea typeface="Garet"/>
                <a:cs typeface="Garet"/>
                <a:sym typeface="Garet"/>
              </a:rPr>
              <a:t>In Machine Learning, we feed the input, output and run it on machine during training and the machine creates its own logic, which is being evaluated while testing.</a:t>
            </a:r>
          </a:p>
        </p:txBody>
      </p:sp>
      <p:grpSp>
        <p:nvGrpSpPr>
          <p:cNvPr name="Group 6" id="6"/>
          <p:cNvGrpSpPr/>
          <p:nvPr/>
        </p:nvGrpSpPr>
        <p:grpSpPr>
          <a:xfrm rot="0">
            <a:off x="11951808" y="5044398"/>
            <a:ext cx="5307492" cy="4452728"/>
            <a:chOff x="0" y="0"/>
            <a:chExt cx="7076656" cy="5936971"/>
          </a:xfrm>
        </p:grpSpPr>
        <p:sp>
          <p:nvSpPr>
            <p:cNvPr name="Freeform 7" id="7"/>
            <p:cNvSpPr/>
            <p:nvPr/>
          </p:nvSpPr>
          <p:spPr>
            <a:xfrm flipH="false" flipV="false" rot="0">
              <a:off x="0" y="0"/>
              <a:ext cx="7076694" cy="5936996"/>
            </a:xfrm>
            <a:custGeom>
              <a:avLst/>
              <a:gdLst/>
              <a:ahLst/>
              <a:cxnLst/>
              <a:rect r="r" b="b" t="t" l="l"/>
              <a:pathLst>
                <a:path h="5936996" w="7076694">
                  <a:moveTo>
                    <a:pt x="0" y="0"/>
                  </a:moveTo>
                  <a:lnTo>
                    <a:pt x="7076694" y="0"/>
                  </a:lnTo>
                  <a:lnTo>
                    <a:pt x="7076694" y="5936996"/>
                  </a:lnTo>
                  <a:lnTo>
                    <a:pt x="0" y="5936996"/>
                  </a:lnTo>
                  <a:lnTo>
                    <a:pt x="0" y="0"/>
                  </a:lnTo>
                  <a:close/>
                </a:path>
              </a:pathLst>
            </a:custGeom>
            <a:blipFill>
              <a:blip r:embed="rId2"/>
              <a:stretch>
                <a:fillRect l="-9259" t="0" r="-9258" b="0"/>
              </a:stretch>
            </a:blipFill>
          </p:spPr>
        </p:sp>
      </p:gr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98734" y="481012"/>
            <a:ext cx="11845014" cy="1095375"/>
          </a:xfrm>
          <a:prstGeom prst="rect">
            <a:avLst/>
          </a:prstGeom>
        </p:spPr>
        <p:txBody>
          <a:bodyPr anchor="t" rtlCol="false" tIns="0" lIns="0" bIns="0" rIns="0">
            <a:spAutoFit/>
          </a:bodyPr>
          <a:lstStyle/>
          <a:p>
            <a:pPr algn="l">
              <a:lnSpc>
                <a:spcPts val="8640"/>
              </a:lnSpc>
              <a:spcBef>
                <a:spcPct val="0"/>
              </a:spcBef>
            </a:pPr>
            <a:r>
              <a:rPr lang="en-US" b="true" sz="7200" spc="-144">
                <a:solidFill>
                  <a:srgbClr val="49139C"/>
                </a:solidFill>
                <a:latin typeface="Garet Bold"/>
                <a:ea typeface="Garet Bold"/>
                <a:cs typeface="Garet Bold"/>
                <a:sym typeface="Garet Bold"/>
              </a:rPr>
              <a:t>Machine Learning</a:t>
            </a:r>
          </a:p>
        </p:txBody>
      </p:sp>
      <p:sp>
        <p:nvSpPr>
          <p:cNvPr name="TextBox 3" id="3"/>
          <p:cNvSpPr txBox="true"/>
          <p:nvPr/>
        </p:nvSpPr>
        <p:spPr>
          <a:xfrm rot="0">
            <a:off x="705635" y="1777442"/>
            <a:ext cx="15916447" cy="8125362"/>
          </a:xfrm>
          <a:prstGeom prst="rect">
            <a:avLst/>
          </a:prstGeom>
        </p:spPr>
        <p:txBody>
          <a:bodyPr anchor="t" rtlCol="false" tIns="0" lIns="0" bIns="0" rIns="0">
            <a:spAutoFit/>
          </a:bodyPr>
          <a:lstStyle/>
          <a:p>
            <a:pPr algn="l" marL="1233201" indent="-411067" lvl="2">
              <a:lnSpc>
                <a:spcPts val="4997"/>
              </a:lnSpc>
              <a:buFont typeface="Arial"/>
              <a:buChar char="⚬"/>
            </a:pPr>
            <a:r>
              <a:rPr lang="en-US" b="true" sz="2855">
                <a:solidFill>
                  <a:srgbClr val="000000"/>
                </a:solidFill>
                <a:latin typeface="Garet Bold"/>
                <a:ea typeface="Garet Bold"/>
                <a:cs typeface="Garet Bold"/>
                <a:sym typeface="Garet Bold"/>
              </a:rPr>
              <a:t>Model:</a:t>
            </a:r>
            <a:r>
              <a:rPr lang="en-US" sz="2855">
                <a:solidFill>
                  <a:srgbClr val="000000"/>
                </a:solidFill>
                <a:latin typeface="Garet"/>
                <a:ea typeface="Garet"/>
                <a:cs typeface="Garet"/>
                <a:sym typeface="Garet"/>
              </a:rPr>
              <a:t> A </a:t>
            </a:r>
            <a:r>
              <a:rPr lang="en-US" sz="2855" u="none">
                <a:solidFill>
                  <a:srgbClr val="000000"/>
                </a:solidFill>
                <a:latin typeface="Garet"/>
                <a:ea typeface="Garet"/>
                <a:cs typeface="Garet"/>
                <a:sym typeface="Garet"/>
              </a:rPr>
              <a:t>model is a specific representation learned from data by applying some machine learning algorithm. A model is also called hypothesis.</a:t>
            </a:r>
          </a:p>
          <a:p>
            <a:pPr algn="l">
              <a:lnSpc>
                <a:spcPts val="4997"/>
              </a:lnSpc>
            </a:pPr>
          </a:p>
          <a:p>
            <a:pPr algn="l" marL="1233201" indent="-411067" lvl="2">
              <a:lnSpc>
                <a:spcPts val="4997"/>
              </a:lnSpc>
              <a:buFont typeface="Arial"/>
              <a:buChar char="⚬"/>
            </a:pPr>
            <a:r>
              <a:rPr lang="en-US" b="true" sz="2855" u="none">
                <a:solidFill>
                  <a:srgbClr val="000000"/>
                </a:solidFill>
                <a:latin typeface="Garet Bold"/>
                <a:ea typeface="Garet Bold"/>
                <a:cs typeface="Garet Bold"/>
                <a:sym typeface="Garet Bold"/>
              </a:rPr>
              <a:t>Feature:</a:t>
            </a:r>
            <a:r>
              <a:rPr lang="en-US" sz="2855" u="none">
                <a:solidFill>
                  <a:srgbClr val="000000"/>
                </a:solidFill>
                <a:latin typeface="Garet"/>
                <a:ea typeface="Garet"/>
                <a:cs typeface="Garet"/>
                <a:sym typeface="Garet"/>
              </a:rPr>
              <a:t> A feature is an individual measurable property of our data. A set of numeric features can be conveniently described by a feature vector. Feature vectors are fed as input to the model. For example, in order to predict a fruit, there may be features like color, smell, taste, etc. </a:t>
            </a:r>
          </a:p>
          <a:p>
            <a:pPr algn="l">
              <a:lnSpc>
                <a:spcPts val="4997"/>
              </a:lnSpc>
            </a:pPr>
          </a:p>
          <a:p>
            <a:pPr algn="l" marL="1233201" indent="-411067" lvl="2">
              <a:lnSpc>
                <a:spcPts val="4997"/>
              </a:lnSpc>
              <a:buFont typeface="Arial"/>
              <a:buChar char="⚬"/>
            </a:pPr>
            <a:r>
              <a:rPr lang="en-US" b="true" sz="2855" u="none">
                <a:solidFill>
                  <a:srgbClr val="000000"/>
                </a:solidFill>
                <a:latin typeface="Garet Bold"/>
                <a:ea typeface="Garet Bold"/>
                <a:cs typeface="Garet Bold"/>
                <a:sym typeface="Garet Bold"/>
              </a:rPr>
              <a:t>Target(Label): </a:t>
            </a:r>
            <a:r>
              <a:rPr lang="en-US" sz="2855" u="none">
                <a:solidFill>
                  <a:srgbClr val="000000"/>
                </a:solidFill>
                <a:latin typeface="Garet"/>
                <a:ea typeface="Garet"/>
                <a:cs typeface="Garet"/>
                <a:sym typeface="Garet"/>
              </a:rPr>
              <a:t>A target variable or label is the value to be predicted by our model. For the fruit example discussed in the features section, the label with each set of input would be the name of the fruit like apple, orange, banana, etc.</a:t>
            </a:r>
          </a:p>
          <a:p>
            <a:pPr algn="l">
              <a:lnSpc>
                <a:spcPts val="4997"/>
              </a:lnSpc>
            </a:pP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28700" y="1028700"/>
            <a:ext cx="11845014" cy="1095375"/>
          </a:xfrm>
          <a:prstGeom prst="rect">
            <a:avLst/>
          </a:prstGeom>
        </p:spPr>
        <p:txBody>
          <a:bodyPr anchor="t" rtlCol="false" tIns="0" lIns="0" bIns="0" rIns="0">
            <a:spAutoFit/>
          </a:bodyPr>
          <a:lstStyle/>
          <a:p>
            <a:pPr algn="l">
              <a:lnSpc>
                <a:spcPts val="8640"/>
              </a:lnSpc>
              <a:spcBef>
                <a:spcPct val="0"/>
              </a:spcBef>
            </a:pPr>
            <a:r>
              <a:rPr lang="en-US" b="true" sz="7200" spc="-144">
                <a:solidFill>
                  <a:srgbClr val="49139C"/>
                </a:solidFill>
                <a:latin typeface="Garet Bold"/>
                <a:ea typeface="Garet Bold"/>
                <a:cs typeface="Garet Bold"/>
                <a:sym typeface="Garet Bold"/>
              </a:rPr>
              <a:t>Machine Learning</a:t>
            </a:r>
          </a:p>
        </p:txBody>
      </p:sp>
      <p:sp>
        <p:nvSpPr>
          <p:cNvPr name="TextBox 3" id="3"/>
          <p:cNvSpPr txBox="true"/>
          <p:nvPr/>
        </p:nvSpPr>
        <p:spPr>
          <a:xfrm rot="0">
            <a:off x="637621" y="2456147"/>
            <a:ext cx="15916447" cy="4353462"/>
          </a:xfrm>
          <a:prstGeom prst="rect">
            <a:avLst/>
          </a:prstGeom>
        </p:spPr>
        <p:txBody>
          <a:bodyPr anchor="t" rtlCol="false" tIns="0" lIns="0" bIns="0" rIns="0">
            <a:spAutoFit/>
          </a:bodyPr>
          <a:lstStyle/>
          <a:p>
            <a:pPr algn="l" marL="1233201" indent="-411067" lvl="2">
              <a:lnSpc>
                <a:spcPts val="4997"/>
              </a:lnSpc>
              <a:buFont typeface="Arial"/>
              <a:buChar char="⚬"/>
            </a:pPr>
            <a:r>
              <a:rPr lang="en-US" b="true" sz="2855" u="none">
                <a:solidFill>
                  <a:srgbClr val="000000"/>
                </a:solidFill>
                <a:latin typeface="Garet Bold"/>
                <a:ea typeface="Garet Bold"/>
                <a:cs typeface="Garet Bold"/>
                <a:sym typeface="Garet Bold"/>
              </a:rPr>
              <a:t>Training: </a:t>
            </a:r>
            <a:r>
              <a:rPr lang="en-US" sz="2855" u="none">
                <a:solidFill>
                  <a:srgbClr val="000000"/>
                </a:solidFill>
                <a:latin typeface="Garet"/>
                <a:ea typeface="Garet"/>
                <a:cs typeface="Garet"/>
                <a:sym typeface="Garet"/>
              </a:rPr>
              <a:t>The idea is to give a set of inputs(features) and it’s expected outputs(labels), so after training, we will have a model (hypothesis) that will then map new data to one of the categories trained on.</a:t>
            </a:r>
          </a:p>
          <a:p>
            <a:pPr algn="l">
              <a:lnSpc>
                <a:spcPts val="4997"/>
              </a:lnSpc>
            </a:pPr>
          </a:p>
          <a:p>
            <a:pPr algn="l" marL="1233201" indent="-411067" lvl="2">
              <a:lnSpc>
                <a:spcPts val="4997"/>
              </a:lnSpc>
              <a:buFont typeface="Arial"/>
              <a:buChar char="⚬"/>
            </a:pPr>
            <a:r>
              <a:rPr lang="en-US" b="true" sz="2855" u="none">
                <a:solidFill>
                  <a:srgbClr val="000000"/>
                </a:solidFill>
                <a:latin typeface="Garet Bold"/>
                <a:ea typeface="Garet Bold"/>
                <a:cs typeface="Garet Bold"/>
                <a:sym typeface="Garet Bold"/>
              </a:rPr>
              <a:t>Prediction:</a:t>
            </a:r>
            <a:r>
              <a:rPr lang="en-US" sz="2855" u="none">
                <a:solidFill>
                  <a:srgbClr val="000000"/>
                </a:solidFill>
                <a:latin typeface="Garet"/>
                <a:ea typeface="Garet"/>
                <a:cs typeface="Garet"/>
                <a:sym typeface="Garet"/>
              </a:rPr>
              <a:t> Once our model is ready, it can be fed a set of inputs to which it will provide a predicted output(label).</a:t>
            </a:r>
          </a:p>
          <a:p>
            <a:pPr algn="l">
              <a:lnSpc>
                <a:spcPts val="4997"/>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07655" y="481012"/>
            <a:ext cx="11845014" cy="1095375"/>
          </a:xfrm>
          <a:prstGeom prst="rect">
            <a:avLst/>
          </a:prstGeom>
        </p:spPr>
        <p:txBody>
          <a:bodyPr anchor="t" rtlCol="false" tIns="0" lIns="0" bIns="0" rIns="0">
            <a:spAutoFit/>
          </a:bodyPr>
          <a:lstStyle/>
          <a:p>
            <a:pPr algn="l">
              <a:lnSpc>
                <a:spcPts val="8640"/>
              </a:lnSpc>
              <a:spcBef>
                <a:spcPct val="0"/>
              </a:spcBef>
            </a:pPr>
            <a:r>
              <a:rPr lang="en-US" b="true" sz="7200" spc="-144">
                <a:solidFill>
                  <a:srgbClr val="49139C"/>
                </a:solidFill>
                <a:latin typeface="Garet Bold"/>
                <a:ea typeface="Garet Bold"/>
                <a:cs typeface="Garet Bold"/>
                <a:sym typeface="Garet Bold"/>
              </a:rPr>
              <a:t>Machine Learning</a:t>
            </a:r>
          </a:p>
        </p:txBody>
      </p:sp>
      <p:sp>
        <p:nvSpPr>
          <p:cNvPr name="TextBox 3" id="3"/>
          <p:cNvSpPr txBox="true"/>
          <p:nvPr/>
        </p:nvSpPr>
        <p:spPr>
          <a:xfrm rot="0">
            <a:off x="807655" y="1859595"/>
            <a:ext cx="3826999" cy="581562"/>
          </a:xfrm>
          <a:prstGeom prst="rect">
            <a:avLst/>
          </a:prstGeom>
        </p:spPr>
        <p:txBody>
          <a:bodyPr anchor="t" rtlCol="false" tIns="0" lIns="0" bIns="0" rIns="0">
            <a:spAutoFit/>
          </a:bodyPr>
          <a:lstStyle/>
          <a:p>
            <a:pPr algn="just">
              <a:lnSpc>
                <a:spcPts val="4997"/>
              </a:lnSpc>
            </a:pPr>
            <a:r>
              <a:rPr lang="en-US" b="true" sz="2855" u="none">
                <a:solidFill>
                  <a:srgbClr val="000000"/>
                </a:solidFill>
                <a:latin typeface="Garet Bold"/>
                <a:ea typeface="Garet Bold"/>
                <a:cs typeface="Garet Bold"/>
                <a:sym typeface="Garet Bold"/>
              </a:rPr>
              <a:t>Types of Learning </a:t>
            </a:r>
          </a:p>
        </p:txBody>
      </p:sp>
      <p:sp>
        <p:nvSpPr>
          <p:cNvPr name="TextBox 4" id="4"/>
          <p:cNvSpPr txBox="true"/>
          <p:nvPr/>
        </p:nvSpPr>
        <p:spPr>
          <a:xfrm rot="0">
            <a:off x="1444105" y="2692839"/>
            <a:ext cx="10300059" cy="1228725"/>
          </a:xfrm>
          <a:prstGeom prst="rect">
            <a:avLst/>
          </a:prstGeom>
        </p:spPr>
        <p:txBody>
          <a:bodyPr anchor="t" rtlCol="false" tIns="0" lIns="0" bIns="0" rIns="0">
            <a:spAutoFit/>
          </a:bodyPr>
          <a:lstStyle/>
          <a:p>
            <a:pPr algn="l" marL="488632" indent="-244316" lvl="1">
              <a:lnSpc>
                <a:spcPts val="3240"/>
              </a:lnSpc>
              <a:buFont typeface="Arial"/>
              <a:buChar char="•"/>
            </a:pPr>
            <a:r>
              <a:rPr lang="en-US" b="true" sz="2700">
                <a:solidFill>
                  <a:srgbClr val="000000"/>
                </a:solidFill>
                <a:latin typeface="Century Gothic Paneuropean Bold"/>
                <a:ea typeface="Century Gothic Paneuropean Bold"/>
                <a:cs typeface="Century Gothic Paneuropean Bold"/>
                <a:sym typeface="Century Gothic Paneuropean Bold"/>
              </a:rPr>
              <a:t>Supervised Learning</a:t>
            </a:r>
          </a:p>
          <a:p>
            <a:pPr algn="l" marL="488632" indent="-244316" lvl="1">
              <a:lnSpc>
                <a:spcPts val="3240"/>
              </a:lnSpc>
              <a:buFont typeface="Arial"/>
              <a:buChar char="•"/>
            </a:pPr>
            <a:r>
              <a:rPr lang="en-US" b="true" sz="2700">
                <a:solidFill>
                  <a:srgbClr val="000000"/>
                </a:solidFill>
                <a:latin typeface="Century Gothic Paneuropean Bold"/>
                <a:ea typeface="Century Gothic Paneuropean Bold"/>
                <a:cs typeface="Century Gothic Paneuropean Bold"/>
                <a:sym typeface="Century Gothic Paneuropean Bold"/>
              </a:rPr>
              <a:t>Unsupervised Learning </a:t>
            </a:r>
          </a:p>
          <a:p>
            <a:pPr algn="l" marL="488632" indent="-244316" lvl="1">
              <a:lnSpc>
                <a:spcPts val="3240"/>
              </a:lnSpc>
              <a:buFont typeface="Arial"/>
              <a:buChar char="•"/>
            </a:pPr>
            <a:r>
              <a:rPr lang="en-US" b="true" sz="2700">
                <a:solidFill>
                  <a:srgbClr val="000000"/>
                </a:solidFill>
                <a:latin typeface="Century Gothic Paneuropean Bold"/>
                <a:ea typeface="Century Gothic Paneuropean Bold"/>
                <a:cs typeface="Century Gothic Paneuropean Bold"/>
                <a:sym typeface="Century Gothic Paneuropean Bold"/>
              </a:rPr>
              <a:t>Semi-Supervised Learning</a:t>
            </a:r>
          </a:p>
        </p:txBody>
      </p:sp>
      <p:sp>
        <p:nvSpPr>
          <p:cNvPr name="TextBox 5" id="5"/>
          <p:cNvSpPr txBox="true"/>
          <p:nvPr/>
        </p:nvSpPr>
        <p:spPr>
          <a:xfrm rot="0">
            <a:off x="807655" y="4169214"/>
            <a:ext cx="14414859" cy="1709052"/>
          </a:xfrm>
          <a:prstGeom prst="rect">
            <a:avLst/>
          </a:prstGeom>
        </p:spPr>
        <p:txBody>
          <a:bodyPr anchor="t" rtlCol="false" tIns="0" lIns="0" bIns="0" rIns="0">
            <a:spAutoFit/>
          </a:bodyPr>
          <a:lstStyle/>
          <a:p>
            <a:pPr algn="l" marL="488632" indent="-244316" lvl="1">
              <a:lnSpc>
                <a:spcPts val="3240"/>
              </a:lnSpc>
              <a:buAutoNum type="arabicPeriod" startAt="1"/>
            </a:pPr>
            <a:r>
              <a:rPr lang="en-US" b="true" sz="2700">
                <a:solidFill>
                  <a:srgbClr val="000000"/>
                </a:solidFill>
                <a:latin typeface="Century Gothic Paneuropean Bold"/>
                <a:ea typeface="Century Gothic Paneuropean Bold"/>
                <a:cs typeface="Century Gothic Paneuropean Bold"/>
                <a:sym typeface="Century Gothic Paneuropean Bold"/>
              </a:rPr>
              <a:t>Supervised Learning</a:t>
            </a:r>
            <a:r>
              <a:rPr lang="en-US" sz="2700">
                <a:solidFill>
                  <a:srgbClr val="000000"/>
                </a:solidFill>
                <a:latin typeface="Century Gothic Paneuropean"/>
                <a:ea typeface="Century Gothic Paneuropean"/>
                <a:cs typeface="Century Gothic Paneuropean"/>
                <a:sym typeface="Century Gothic Paneuropean"/>
              </a:rPr>
              <a:t>: Supervised learning is when the model is getting trained on a labelled dataset. </a:t>
            </a:r>
            <a:r>
              <a:rPr lang="en-US" b="true" sz="2700">
                <a:solidFill>
                  <a:srgbClr val="000000"/>
                </a:solidFill>
                <a:latin typeface="Century Gothic Paneuropean Bold"/>
                <a:ea typeface="Century Gothic Paneuropean Bold"/>
                <a:cs typeface="Century Gothic Paneuropean Bold"/>
                <a:sym typeface="Century Gothic Paneuropean Bold"/>
              </a:rPr>
              <a:t>Labelled</a:t>
            </a:r>
            <a:r>
              <a:rPr lang="en-US" sz="2700">
                <a:solidFill>
                  <a:srgbClr val="000000"/>
                </a:solidFill>
                <a:latin typeface="Century Gothic Paneuropean"/>
                <a:ea typeface="Century Gothic Paneuropean"/>
                <a:cs typeface="Century Gothic Paneuropean"/>
                <a:sym typeface="Century Gothic Paneuropean"/>
              </a:rPr>
              <a:t> dataset is one which have both input and output parameters. In this type of learning both training and validation datasets are labelled as shown in the figures below.</a:t>
            </a:r>
          </a:p>
        </p:txBody>
      </p:sp>
      <p:grpSp>
        <p:nvGrpSpPr>
          <p:cNvPr name="Group 6" id="6"/>
          <p:cNvGrpSpPr/>
          <p:nvPr/>
        </p:nvGrpSpPr>
        <p:grpSpPr>
          <a:xfrm rot="0">
            <a:off x="2218441" y="5878266"/>
            <a:ext cx="11593287" cy="4039610"/>
            <a:chOff x="0" y="0"/>
            <a:chExt cx="15457716" cy="5386146"/>
          </a:xfrm>
        </p:grpSpPr>
        <p:sp>
          <p:nvSpPr>
            <p:cNvPr name="Freeform 7" id="7"/>
            <p:cNvSpPr/>
            <p:nvPr/>
          </p:nvSpPr>
          <p:spPr>
            <a:xfrm flipH="false" flipV="false" rot="0">
              <a:off x="0" y="0"/>
              <a:ext cx="15457678" cy="5386197"/>
            </a:xfrm>
            <a:custGeom>
              <a:avLst/>
              <a:gdLst/>
              <a:ahLst/>
              <a:cxnLst/>
              <a:rect r="r" b="b" t="t" l="l"/>
              <a:pathLst>
                <a:path h="5386197" w="15457678">
                  <a:moveTo>
                    <a:pt x="0" y="0"/>
                  </a:moveTo>
                  <a:lnTo>
                    <a:pt x="15457678" y="0"/>
                  </a:lnTo>
                  <a:lnTo>
                    <a:pt x="15457678" y="5386197"/>
                  </a:lnTo>
                  <a:lnTo>
                    <a:pt x="0" y="5386197"/>
                  </a:lnTo>
                  <a:lnTo>
                    <a:pt x="0" y="0"/>
                  </a:lnTo>
                  <a:close/>
                </a:path>
              </a:pathLst>
            </a:custGeom>
            <a:blipFill>
              <a:blip r:embed="rId2"/>
              <a:stretch>
                <a:fillRect l="-12011" t="0" r="-12011" b="0"/>
              </a:stretch>
            </a:blipFill>
          </p:spPr>
        </p:sp>
      </p:gr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07655" y="481012"/>
            <a:ext cx="11845014" cy="1095375"/>
          </a:xfrm>
          <a:prstGeom prst="rect">
            <a:avLst/>
          </a:prstGeom>
        </p:spPr>
        <p:txBody>
          <a:bodyPr anchor="t" rtlCol="false" tIns="0" lIns="0" bIns="0" rIns="0">
            <a:spAutoFit/>
          </a:bodyPr>
          <a:lstStyle/>
          <a:p>
            <a:pPr algn="l">
              <a:lnSpc>
                <a:spcPts val="8640"/>
              </a:lnSpc>
              <a:spcBef>
                <a:spcPct val="0"/>
              </a:spcBef>
            </a:pPr>
            <a:r>
              <a:rPr lang="en-US" b="true" sz="7200" spc="-144">
                <a:solidFill>
                  <a:srgbClr val="49139C"/>
                </a:solidFill>
                <a:latin typeface="Garet Bold"/>
                <a:ea typeface="Garet Bold"/>
                <a:cs typeface="Garet Bold"/>
                <a:sym typeface="Garet Bold"/>
              </a:rPr>
              <a:t>Machine Learning</a:t>
            </a:r>
          </a:p>
        </p:txBody>
      </p:sp>
      <p:sp>
        <p:nvSpPr>
          <p:cNvPr name="TextBox 3" id="3"/>
          <p:cNvSpPr txBox="true"/>
          <p:nvPr/>
        </p:nvSpPr>
        <p:spPr>
          <a:xfrm rot="0">
            <a:off x="807655" y="1841182"/>
            <a:ext cx="12383938" cy="1293552"/>
          </a:xfrm>
          <a:prstGeom prst="rect">
            <a:avLst/>
          </a:prstGeom>
        </p:spPr>
        <p:txBody>
          <a:bodyPr anchor="t" rtlCol="false" tIns="0" lIns="0" bIns="0" rIns="0">
            <a:spAutoFit/>
          </a:bodyPr>
          <a:lstStyle/>
          <a:p>
            <a:pPr algn="l">
              <a:lnSpc>
                <a:spcPts val="3240"/>
              </a:lnSpc>
            </a:pPr>
            <a:r>
              <a:rPr lang="en-US" b="true" sz="2700">
                <a:solidFill>
                  <a:srgbClr val="000000"/>
                </a:solidFill>
                <a:latin typeface="Century Gothic Paneuropean Bold"/>
                <a:ea typeface="Century Gothic Paneuropean Bold"/>
                <a:cs typeface="Century Gothic Paneuropean Bold"/>
                <a:sym typeface="Century Gothic Paneuropean Bold"/>
              </a:rPr>
              <a:t>Types of Supervised Learning:</a:t>
            </a:r>
          </a:p>
          <a:p>
            <a:pPr algn="l" marL="1174432" indent="-391478" lvl="2">
              <a:lnSpc>
                <a:spcPts val="3240"/>
              </a:lnSpc>
              <a:buFont typeface="Arial"/>
              <a:buChar char="⚬"/>
            </a:pPr>
            <a:r>
              <a:rPr lang="en-US" b="true" sz="2700">
                <a:solidFill>
                  <a:srgbClr val="000000"/>
                </a:solidFill>
                <a:latin typeface="Century Gothic Paneuropean Bold"/>
                <a:ea typeface="Century Gothic Paneuropean Bold"/>
                <a:cs typeface="Century Gothic Paneuropean Bold"/>
                <a:sym typeface="Century Gothic Paneuropean Bold"/>
              </a:rPr>
              <a:t>Classification </a:t>
            </a:r>
          </a:p>
          <a:p>
            <a:pPr algn="l" marL="1174432" indent="-391478" lvl="2">
              <a:lnSpc>
                <a:spcPts val="3240"/>
              </a:lnSpc>
              <a:buFont typeface="Arial"/>
              <a:buChar char="⚬"/>
            </a:pPr>
            <a:r>
              <a:rPr lang="en-US" b="true" sz="2700">
                <a:solidFill>
                  <a:srgbClr val="000000"/>
                </a:solidFill>
                <a:latin typeface="Century Gothic Paneuropean Bold"/>
                <a:ea typeface="Century Gothic Paneuropean Bold"/>
                <a:cs typeface="Century Gothic Paneuropean Bold"/>
                <a:sym typeface="Century Gothic Paneuropean Bold"/>
              </a:rPr>
              <a:t>Regression</a:t>
            </a:r>
          </a:p>
        </p:txBody>
      </p:sp>
      <p:sp>
        <p:nvSpPr>
          <p:cNvPr name="TextBox 4" id="4"/>
          <p:cNvSpPr txBox="true"/>
          <p:nvPr/>
        </p:nvSpPr>
        <p:spPr>
          <a:xfrm rot="0">
            <a:off x="1309701" y="3134734"/>
            <a:ext cx="12921463" cy="2540051"/>
          </a:xfrm>
          <a:prstGeom prst="rect">
            <a:avLst/>
          </a:prstGeom>
        </p:spPr>
        <p:txBody>
          <a:bodyPr anchor="t" rtlCol="false" tIns="0" lIns="0" bIns="0" rIns="0">
            <a:spAutoFit/>
          </a:bodyPr>
          <a:lstStyle/>
          <a:p>
            <a:pPr algn="l">
              <a:lnSpc>
                <a:spcPts val="3240"/>
              </a:lnSpc>
            </a:pPr>
            <a:r>
              <a:rPr lang="en-US" b="true" sz="2700">
                <a:solidFill>
                  <a:srgbClr val="000000"/>
                </a:solidFill>
                <a:latin typeface="Century Gothic Paneuropean Bold"/>
                <a:ea typeface="Century Gothic Paneuropean Bold"/>
                <a:cs typeface="Century Gothic Paneuropean Bold"/>
                <a:sym typeface="Century Gothic Paneuropean Bold"/>
              </a:rPr>
              <a:t>Classification</a:t>
            </a:r>
            <a:r>
              <a:rPr lang="en-US" sz="2700">
                <a:solidFill>
                  <a:srgbClr val="000000"/>
                </a:solidFill>
                <a:latin typeface="Century Gothic Paneuropean"/>
                <a:ea typeface="Century Gothic Paneuropean"/>
                <a:cs typeface="Century Gothic Paneuropean"/>
                <a:sym typeface="Century Gothic Paneuropean"/>
              </a:rPr>
              <a:t> : It is a Supervised Learning task where output is having defined labels(discrete value). For example in above Figure A, Output – Purchased has defined labels i.e. 0 or 1 ; 1 means the customer will purchase and 0 means that customer won’t purchase. It can be either binary or multi class classification. In </a:t>
            </a:r>
            <a:r>
              <a:rPr lang="en-US" b="true" sz="2700">
                <a:solidFill>
                  <a:srgbClr val="000000"/>
                </a:solidFill>
                <a:latin typeface="Century Gothic Paneuropean Bold"/>
                <a:ea typeface="Century Gothic Paneuropean Bold"/>
                <a:cs typeface="Century Gothic Paneuropean Bold"/>
                <a:sym typeface="Century Gothic Paneuropean Bold"/>
              </a:rPr>
              <a:t>binary</a:t>
            </a:r>
            <a:r>
              <a:rPr lang="en-US" sz="2700">
                <a:solidFill>
                  <a:srgbClr val="000000"/>
                </a:solidFill>
                <a:latin typeface="Century Gothic Paneuropean"/>
                <a:ea typeface="Century Gothic Paneuropean"/>
                <a:cs typeface="Century Gothic Paneuropean"/>
                <a:sym typeface="Century Gothic Paneuropean"/>
              </a:rPr>
              <a:t> classification, model predicts either 0 or 1 ; yes or no but in case of </a:t>
            </a:r>
            <a:r>
              <a:rPr lang="en-US" b="true" sz="2700">
                <a:solidFill>
                  <a:srgbClr val="000000"/>
                </a:solidFill>
                <a:latin typeface="Century Gothic Paneuropean Bold"/>
                <a:ea typeface="Century Gothic Paneuropean Bold"/>
                <a:cs typeface="Century Gothic Paneuropean Bold"/>
                <a:sym typeface="Century Gothic Paneuropean Bold"/>
              </a:rPr>
              <a:t>multi class </a:t>
            </a:r>
            <a:r>
              <a:rPr lang="en-US" sz="2700">
                <a:solidFill>
                  <a:srgbClr val="000000"/>
                </a:solidFill>
                <a:latin typeface="Century Gothic Paneuropean"/>
                <a:ea typeface="Century Gothic Paneuropean"/>
                <a:cs typeface="Century Gothic Paneuropean"/>
                <a:sym typeface="Century Gothic Paneuropean"/>
              </a:rPr>
              <a:t>classification, model predicts more than one class.</a:t>
            </a:r>
          </a:p>
        </p:txBody>
      </p:sp>
      <p:sp>
        <p:nvSpPr>
          <p:cNvPr name="TextBox 5" id="5"/>
          <p:cNvSpPr txBox="true"/>
          <p:nvPr/>
        </p:nvSpPr>
        <p:spPr>
          <a:xfrm rot="0">
            <a:off x="1309701" y="5941485"/>
            <a:ext cx="12532223" cy="878053"/>
          </a:xfrm>
          <a:prstGeom prst="rect">
            <a:avLst/>
          </a:prstGeom>
        </p:spPr>
        <p:txBody>
          <a:bodyPr anchor="t" rtlCol="false" tIns="0" lIns="0" bIns="0" rIns="0">
            <a:spAutoFit/>
          </a:bodyPr>
          <a:lstStyle/>
          <a:p>
            <a:pPr algn="l">
              <a:lnSpc>
                <a:spcPts val="3240"/>
              </a:lnSpc>
            </a:pPr>
            <a:r>
              <a:rPr lang="en-US" b="true" sz="2700">
                <a:solidFill>
                  <a:srgbClr val="000000"/>
                </a:solidFill>
                <a:latin typeface="Century Gothic Paneuropean Bold"/>
                <a:ea typeface="Century Gothic Paneuropean Bold"/>
                <a:cs typeface="Century Gothic Paneuropean Bold"/>
                <a:sym typeface="Century Gothic Paneuropean Bold"/>
              </a:rPr>
              <a:t>Example:</a:t>
            </a:r>
            <a:r>
              <a:rPr lang="en-US" sz="2700">
                <a:solidFill>
                  <a:srgbClr val="000000"/>
                </a:solidFill>
                <a:latin typeface="Century Gothic Paneuropean"/>
                <a:ea typeface="Century Gothic Paneuropean"/>
                <a:cs typeface="Century Gothic Paneuropean"/>
                <a:sym typeface="Century Gothic Paneuropean"/>
              </a:rPr>
              <a:t> Gmail classifies mails in more than one classes like social, promotions, updates, offers.</a:t>
            </a:r>
          </a:p>
        </p:txBody>
      </p:sp>
      <p:sp>
        <p:nvSpPr>
          <p:cNvPr name="TextBox 6" id="6"/>
          <p:cNvSpPr txBox="true"/>
          <p:nvPr/>
        </p:nvSpPr>
        <p:spPr>
          <a:xfrm rot="0">
            <a:off x="1309701" y="6917380"/>
            <a:ext cx="12995605" cy="2955550"/>
          </a:xfrm>
          <a:prstGeom prst="rect">
            <a:avLst/>
          </a:prstGeom>
        </p:spPr>
        <p:txBody>
          <a:bodyPr anchor="t" rtlCol="false" tIns="0" lIns="0" bIns="0" rIns="0">
            <a:spAutoFit/>
          </a:bodyPr>
          <a:lstStyle/>
          <a:p>
            <a:pPr algn="l">
              <a:lnSpc>
                <a:spcPts val="3240"/>
              </a:lnSpc>
            </a:pPr>
            <a:r>
              <a:rPr lang="en-US" b="true" sz="2700">
                <a:solidFill>
                  <a:srgbClr val="000000"/>
                </a:solidFill>
                <a:latin typeface="Century Gothic Paneuropean Bold"/>
                <a:ea typeface="Century Gothic Paneuropean Bold"/>
                <a:cs typeface="Century Gothic Paneuropean Bold"/>
                <a:sym typeface="Century Gothic Paneuropean Bold"/>
              </a:rPr>
              <a:t>Regression : </a:t>
            </a:r>
            <a:r>
              <a:rPr lang="en-US" sz="2700">
                <a:solidFill>
                  <a:srgbClr val="000000"/>
                </a:solidFill>
                <a:latin typeface="Century Gothic Paneuropean"/>
                <a:ea typeface="Century Gothic Paneuropean"/>
                <a:cs typeface="Century Gothic Paneuropean"/>
                <a:sym typeface="Century Gothic Paneuropean"/>
              </a:rPr>
              <a:t>It is a Supervised Learning task where output is having continuous value.</a:t>
            </a:r>
          </a:p>
          <a:p>
            <a:pPr algn="l">
              <a:lnSpc>
                <a:spcPts val="3240"/>
              </a:lnSpc>
            </a:pPr>
            <a:r>
              <a:rPr lang="en-US" sz="2700">
                <a:solidFill>
                  <a:srgbClr val="000000"/>
                </a:solidFill>
                <a:latin typeface="Century Gothic Paneuropean"/>
                <a:ea typeface="Century Gothic Paneuropean"/>
                <a:cs typeface="Century Gothic Paneuropean"/>
                <a:sym typeface="Century Gothic Paneuropean"/>
              </a:rPr>
              <a:t>Example in before regression Figure, Output – Wind Speed is not having any discrete value but is continuous in the particular range. The goal here is to predict a value as much closer to actual output value as our model can and then evaluation is done by calculating error value. The smaller the error the greater the accuracy of our regression model.</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07655" y="1028700"/>
            <a:ext cx="7583338" cy="462563"/>
          </a:xfrm>
          <a:prstGeom prst="rect">
            <a:avLst/>
          </a:prstGeom>
        </p:spPr>
        <p:txBody>
          <a:bodyPr anchor="t" rtlCol="false" tIns="0" lIns="0" bIns="0" rIns="0">
            <a:spAutoFit/>
          </a:bodyPr>
          <a:lstStyle/>
          <a:p>
            <a:pPr algn="l">
              <a:lnSpc>
                <a:spcPts val="3240"/>
              </a:lnSpc>
            </a:pPr>
            <a:r>
              <a:rPr lang="en-US" b="true" sz="2700">
                <a:solidFill>
                  <a:srgbClr val="000000"/>
                </a:solidFill>
                <a:latin typeface="Century Gothic Paneuropean Bold"/>
                <a:ea typeface="Century Gothic Paneuropean Bold"/>
                <a:cs typeface="Century Gothic Paneuropean Bold"/>
                <a:sym typeface="Century Gothic Paneuropean Bold"/>
              </a:rPr>
              <a:t>Example of Supervised Learning Algorithms:</a:t>
            </a:r>
          </a:p>
        </p:txBody>
      </p:sp>
      <p:sp>
        <p:nvSpPr>
          <p:cNvPr name="TextBox 3" id="3"/>
          <p:cNvSpPr txBox="true"/>
          <p:nvPr/>
        </p:nvSpPr>
        <p:spPr>
          <a:xfrm rot="0">
            <a:off x="1485398" y="1917614"/>
            <a:ext cx="12105913" cy="5033039"/>
          </a:xfrm>
          <a:prstGeom prst="rect">
            <a:avLst/>
          </a:prstGeom>
        </p:spPr>
        <p:txBody>
          <a:bodyPr anchor="t" rtlCol="false" tIns="0" lIns="0" bIns="0" rIns="0">
            <a:spAutoFit/>
          </a:bodyPr>
          <a:lstStyle/>
          <a:p>
            <a:pPr algn="l" marL="488632" indent="-244316" lvl="1">
              <a:lnSpc>
                <a:spcPts val="3240"/>
              </a:lnSpc>
              <a:buFont typeface="Arial"/>
              <a:buChar char="•"/>
            </a:pPr>
            <a:r>
              <a:rPr lang="en-US" sz="2700">
                <a:solidFill>
                  <a:srgbClr val="000000"/>
                </a:solidFill>
                <a:latin typeface="Century Gothic Paneuropean"/>
                <a:ea typeface="Century Gothic Paneuropean"/>
                <a:cs typeface="Century Gothic Paneuropean"/>
                <a:sym typeface="Century Gothic Paneuropean"/>
              </a:rPr>
              <a:t>Linear Regression</a:t>
            </a:r>
          </a:p>
          <a:p>
            <a:pPr algn="l" marL="488632" indent="-244316" lvl="1">
              <a:lnSpc>
                <a:spcPts val="3240"/>
              </a:lnSpc>
            </a:pPr>
          </a:p>
          <a:p>
            <a:pPr algn="l" marL="488632" indent="-244316" lvl="1">
              <a:lnSpc>
                <a:spcPts val="3240"/>
              </a:lnSpc>
              <a:buFont typeface="Arial"/>
              <a:buChar char="•"/>
            </a:pPr>
            <a:r>
              <a:rPr lang="en-US" sz="2700">
                <a:solidFill>
                  <a:srgbClr val="000000"/>
                </a:solidFill>
                <a:latin typeface="Century Gothic Paneuropean"/>
                <a:ea typeface="Century Gothic Paneuropean"/>
                <a:cs typeface="Century Gothic Paneuropean"/>
                <a:sym typeface="Century Gothic Paneuropean"/>
              </a:rPr>
              <a:t>Nearest Neighbor</a:t>
            </a:r>
          </a:p>
          <a:p>
            <a:pPr algn="l" marL="488632" indent="-244316" lvl="1">
              <a:lnSpc>
                <a:spcPts val="3240"/>
              </a:lnSpc>
            </a:pPr>
          </a:p>
          <a:p>
            <a:pPr algn="l" marL="488632" indent="-244316" lvl="1">
              <a:lnSpc>
                <a:spcPts val="3240"/>
              </a:lnSpc>
              <a:buFont typeface="Arial"/>
              <a:buChar char="•"/>
            </a:pPr>
            <a:r>
              <a:rPr lang="en-US" sz="2700">
                <a:solidFill>
                  <a:srgbClr val="000000"/>
                </a:solidFill>
                <a:latin typeface="Century Gothic Paneuropean"/>
                <a:ea typeface="Century Gothic Paneuropean"/>
                <a:cs typeface="Century Gothic Paneuropean"/>
                <a:sym typeface="Century Gothic Paneuropean"/>
              </a:rPr>
              <a:t>Gaussian Naive Bayes</a:t>
            </a:r>
          </a:p>
          <a:p>
            <a:pPr algn="l" marL="488632" indent="-244316" lvl="1">
              <a:lnSpc>
                <a:spcPts val="3240"/>
              </a:lnSpc>
            </a:pPr>
          </a:p>
          <a:p>
            <a:pPr algn="l" marL="488632" indent="-244316" lvl="1">
              <a:lnSpc>
                <a:spcPts val="3240"/>
              </a:lnSpc>
              <a:buFont typeface="Arial"/>
              <a:buChar char="•"/>
            </a:pPr>
            <a:r>
              <a:rPr lang="en-US" sz="2700">
                <a:solidFill>
                  <a:srgbClr val="000000"/>
                </a:solidFill>
                <a:latin typeface="Century Gothic Paneuropean"/>
                <a:ea typeface="Century Gothic Paneuropean"/>
                <a:cs typeface="Century Gothic Paneuropean"/>
                <a:sym typeface="Century Gothic Paneuropean"/>
              </a:rPr>
              <a:t>Decision Trees</a:t>
            </a:r>
          </a:p>
          <a:p>
            <a:pPr algn="l" marL="488632" indent="-244316" lvl="1">
              <a:lnSpc>
                <a:spcPts val="3240"/>
              </a:lnSpc>
            </a:pPr>
          </a:p>
          <a:p>
            <a:pPr algn="l" marL="488632" indent="-244316" lvl="1">
              <a:lnSpc>
                <a:spcPts val="3240"/>
              </a:lnSpc>
              <a:buFont typeface="Arial"/>
              <a:buChar char="•"/>
            </a:pPr>
            <a:r>
              <a:rPr lang="en-US" sz="2700">
                <a:solidFill>
                  <a:srgbClr val="000000"/>
                </a:solidFill>
                <a:latin typeface="Century Gothic Paneuropean"/>
                <a:ea typeface="Century Gothic Paneuropean"/>
                <a:cs typeface="Century Gothic Paneuropean"/>
                <a:sym typeface="Century Gothic Paneuropean"/>
              </a:rPr>
              <a:t>Support Vector Machine (SVM)</a:t>
            </a:r>
          </a:p>
          <a:p>
            <a:pPr algn="l" marL="488632" indent="-244316" lvl="1">
              <a:lnSpc>
                <a:spcPts val="3240"/>
              </a:lnSpc>
            </a:pPr>
          </a:p>
          <a:p>
            <a:pPr algn="l" marL="488632" indent="-244316" lvl="1">
              <a:lnSpc>
                <a:spcPts val="3240"/>
              </a:lnSpc>
              <a:buFont typeface="Arial"/>
              <a:buChar char="•"/>
            </a:pPr>
            <a:r>
              <a:rPr lang="en-US" sz="2700">
                <a:solidFill>
                  <a:srgbClr val="000000"/>
                </a:solidFill>
                <a:latin typeface="Century Gothic Paneuropean"/>
                <a:ea typeface="Century Gothic Paneuropean"/>
                <a:cs typeface="Century Gothic Paneuropean"/>
                <a:sym typeface="Century Gothic Paneuropean"/>
              </a:rPr>
              <a:t>Random Forest</a:t>
            </a:r>
          </a:p>
          <a:p>
            <a:pPr algn="l" marL="488632" indent="-244316" lvl="1">
              <a:lnSpc>
                <a:spcPts val="3240"/>
              </a:lnSpc>
            </a:pP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37998" y="823912"/>
            <a:ext cx="5878106" cy="409575"/>
          </a:xfrm>
          <a:prstGeom prst="rect">
            <a:avLst/>
          </a:prstGeom>
        </p:spPr>
        <p:txBody>
          <a:bodyPr anchor="t" rtlCol="false" tIns="0" lIns="0" bIns="0" rIns="0">
            <a:spAutoFit/>
          </a:bodyPr>
          <a:lstStyle/>
          <a:p>
            <a:pPr algn="l">
              <a:lnSpc>
                <a:spcPts val="3240"/>
              </a:lnSpc>
            </a:pPr>
            <a:r>
              <a:rPr lang="en-US" b="true" sz="2700">
                <a:solidFill>
                  <a:srgbClr val="000000"/>
                </a:solidFill>
                <a:latin typeface="Century Gothic Paneuropean Bold"/>
                <a:ea typeface="Century Gothic Paneuropean Bold"/>
                <a:cs typeface="Century Gothic Paneuropean Bold"/>
                <a:sym typeface="Century Gothic Paneuropean Bold"/>
              </a:rPr>
              <a:t>Unsupervised Learning</a:t>
            </a:r>
            <a:r>
              <a:rPr lang="en-US" sz="2700">
                <a:solidFill>
                  <a:srgbClr val="000000"/>
                </a:solidFill>
                <a:latin typeface="Century Gothic Paneuropean"/>
                <a:ea typeface="Century Gothic Paneuropean"/>
                <a:cs typeface="Century Gothic Paneuropean"/>
                <a:sym typeface="Century Gothic Paneuropean"/>
              </a:rPr>
              <a:t>:</a:t>
            </a:r>
          </a:p>
        </p:txBody>
      </p:sp>
      <p:sp>
        <p:nvSpPr>
          <p:cNvPr name="TextBox 3" id="3"/>
          <p:cNvSpPr txBox="true"/>
          <p:nvPr/>
        </p:nvSpPr>
        <p:spPr>
          <a:xfrm rot="0">
            <a:off x="1680087" y="1751959"/>
            <a:ext cx="12309805" cy="2540051"/>
          </a:xfrm>
          <a:prstGeom prst="rect">
            <a:avLst/>
          </a:prstGeom>
        </p:spPr>
        <p:txBody>
          <a:bodyPr anchor="t" rtlCol="false" tIns="0" lIns="0" bIns="0" rIns="0">
            <a:spAutoFit/>
          </a:bodyPr>
          <a:lstStyle/>
          <a:p>
            <a:pPr algn="l">
              <a:lnSpc>
                <a:spcPts val="3240"/>
              </a:lnSpc>
            </a:pPr>
            <a:r>
              <a:rPr lang="en-US" sz="2700">
                <a:solidFill>
                  <a:srgbClr val="000000"/>
                </a:solidFill>
                <a:latin typeface="Century Gothic Paneuropean"/>
                <a:ea typeface="Century Gothic Paneuropean"/>
                <a:cs typeface="Century Gothic Paneuropean"/>
                <a:sym typeface="Century Gothic Paneuropean"/>
              </a:rPr>
              <a:t>Unsupervised learning is the training of machine using information that is neither classified nor labeled and allowing the algorithm to act on that information without guidance. Here the task of machine is to group unsorted information according to similarities, patterns and differences without any prior training of data. Unsupervised machine learning is more challenging than supervised learning due to the absence of labels.</a:t>
            </a:r>
          </a:p>
        </p:txBody>
      </p:sp>
      <p:sp>
        <p:nvSpPr>
          <p:cNvPr name="TextBox 4" id="4"/>
          <p:cNvSpPr txBox="true"/>
          <p:nvPr/>
        </p:nvSpPr>
        <p:spPr>
          <a:xfrm rot="0">
            <a:off x="2649284" y="5013141"/>
            <a:ext cx="5674223" cy="2124551"/>
          </a:xfrm>
          <a:prstGeom prst="rect">
            <a:avLst/>
          </a:prstGeom>
        </p:spPr>
        <p:txBody>
          <a:bodyPr anchor="t" rtlCol="false" tIns="0" lIns="0" bIns="0" rIns="0">
            <a:spAutoFit/>
          </a:bodyPr>
          <a:lstStyle/>
          <a:p>
            <a:pPr algn="l">
              <a:lnSpc>
                <a:spcPts val="3240"/>
              </a:lnSpc>
            </a:pPr>
            <a:r>
              <a:rPr lang="en-US" b="true" sz="2700">
                <a:solidFill>
                  <a:srgbClr val="000000"/>
                </a:solidFill>
                <a:latin typeface="Century Gothic Paneuropean Bold"/>
                <a:ea typeface="Century Gothic Paneuropean Bold"/>
                <a:cs typeface="Century Gothic Paneuropean Bold"/>
                <a:sym typeface="Century Gothic Paneuropean Bold"/>
              </a:rPr>
              <a:t>Types of Unsupervised Learning</a:t>
            </a:r>
            <a:r>
              <a:rPr lang="en-US" sz="2700">
                <a:solidFill>
                  <a:srgbClr val="000000"/>
                </a:solidFill>
                <a:latin typeface="Century Gothic Paneuropean"/>
                <a:ea typeface="Century Gothic Paneuropean"/>
                <a:cs typeface="Century Gothic Paneuropean"/>
                <a:sym typeface="Century Gothic Paneuropean"/>
              </a:rPr>
              <a:t>:</a:t>
            </a:r>
          </a:p>
          <a:p>
            <a:pPr algn="l">
              <a:lnSpc>
                <a:spcPts val="3240"/>
              </a:lnSpc>
            </a:pPr>
          </a:p>
          <a:p>
            <a:pPr algn="l" marL="1174432" indent="-391478" lvl="2">
              <a:lnSpc>
                <a:spcPts val="3240"/>
              </a:lnSpc>
              <a:buFont typeface="Arial"/>
              <a:buChar char="⚬"/>
            </a:pPr>
            <a:r>
              <a:rPr lang="en-US" b="true" sz="2700">
                <a:solidFill>
                  <a:srgbClr val="000000"/>
                </a:solidFill>
                <a:latin typeface="Century Gothic Paneuropean Bold"/>
                <a:ea typeface="Century Gothic Paneuropean Bold"/>
                <a:cs typeface="Century Gothic Paneuropean Bold"/>
                <a:sym typeface="Century Gothic Paneuropean Bold"/>
              </a:rPr>
              <a:t>Clustering</a:t>
            </a:r>
            <a:r>
              <a:rPr lang="en-US" sz="2700">
                <a:solidFill>
                  <a:srgbClr val="000000"/>
                </a:solidFill>
                <a:latin typeface="Century Gothic Paneuropean"/>
                <a:ea typeface="Century Gothic Paneuropean"/>
                <a:cs typeface="Century Gothic Paneuropean"/>
                <a:sym typeface="Century Gothic Paneuropean"/>
              </a:rPr>
              <a:t> </a:t>
            </a:r>
          </a:p>
          <a:p>
            <a:pPr algn="l" marL="1174432" indent="-391478" lvl="2">
              <a:lnSpc>
                <a:spcPts val="3240"/>
              </a:lnSpc>
            </a:pPr>
          </a:p>
          <a:p>
            <a:pPr algn="l" marL="1174432" indent="-391478" lvl="2">
              <a:lnSpc>
                <a:spcPts val="3240"/>
              </a:lnSpc>
              <a:buFont typeface="Arial"/>
              <a:buChar char="⚬"/>
            </a:pPr>
            <a:r>
              <a:rPr lang="en-US" b="true" sz="2700">
                <a:solidFill>
                  <a:srgbClr val="000000"/>
                </a:solidFill>
                <a:latin typeface="Century Gothic Paneuropean Bold"/>
                <a:ea typeface="Century Gothic Paneuropean Bold"/>
                <a:cs typeface="Century Gothic Paneuropean Bold"/>
                <a:sym typeface="Century Gothic Paneuropean Bold"/>
              </a:rPr>
              <a:t>Association</a:t>
            </a:r>
          </a:p>
        </p:txBody>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237998" y="823912"/>
            <a:ext cx="5878106" cy="409575"/>
          </a:xfrm>
          <a:prstGeom prst="rect">
            <a:avLst/>
          </a:prstGeom>
        </p:spPr>
        <p:txBody>
          <a:bodyPr anchor="t" rtlCol="false" tIns="0" lIns="0" bIns="0" rIns="0">
            <a:spAutoFit/>
          </a:bodyPr>
          <a:lstStyle/>
          <a:p>
            <a:pPr algn="l">
              <a:lnSpc>
                <a:spcPts val="3240"/>
              </a:lnSpc>
            </a:pPr>
            <a:r>
              <a:rPr lang="en-US" b="true" sz="2700">
                <a:solidFill>
                  <a:srgbClr val="000000"/>
                </a:solidFill>
                <a:latin typeface="Century Gothic Paneuropean Bold"/>
                <a:ea typeface="Century Gothic Paneuropean Bold"/>
                <a:cs typeface="Century Gothic Paneuropean Bold"/>
                <a:sym typeface="Century Gothic Paneuropean Bold"/>
              </a:rPr>
              <a:t>Unsupervised Learning</a:t>
            </a:r>
            <a:r>
              <a:rPr lang="en-US" sz="2700">
                <a:solidFill>
                  <a:srgbClr val="000000"/>
                </a:solidFill>
                <a:latin typeface="Century Gothic Paneuropean"/>
                <a:ea typeface="Century Gothic Paneuropean"/>
                <a:cs typeface="Century Gothic Paneuropean"/>
                <a:sym typeface="Century Gothic Paneuropean"/>
              </a:rPr>
              <a:t>:</a:t>
            </a:r>
          </a:p>
        </p:txBody>
      </p:sp>
      <p:sp>
        <p:nvSpPr>
          <p:cNvPr name="TextBox 3" id="3"/>
          <p:cNvSpPr txBox="true"/>
          <p:nvPr/>
        </p:nvSpPr>
        <p:spPr>
          <a:xfrm rot="0">
            <a:off x="1958589" y="1595323"/>
            <a:ext cx="13725837" cy="3686175"/>
          </a:xfrm>
          <a:prstGeom prst="rect">
            <a:avLst/>
          </a:prstGeom>
        </p:spPr>
        <p:txBody>
          <a:bodyPr anchor="t" rtlCol="false" tIns="0" lIns="0" bIns="0" rIns="0">
            <a:spAutoFit/>
          </a:bodyPr>
          <a:lstStyle/>
          <a:p>
            <a:pPr algn="l">
              <a:lnSpc>
                <a:spcPts val="3240"/>
              </a:lnSpc>
            </a:pPr>
            <a:r>
              <a:rPr lang="en-US" b="true" sz="2700">
                <a:solidFill>
                  <a:srgbClr val="000000"/>
                </a:solidFill>
                <a:latin typeface="Century Gothic Paneuropean Bold"/>
                <a:ea typeface="Century Gothic Paneuropean Bold"/>
                <a:cs typeface="Century Gothic Paneuropean Bold"/>
                <a:sym typeface="Century Gothic Paneuropean Bold"/>
              </a:rPr>
              <a:t>Clustering</a:t>
            </a:r>
            <a:r>
              <a:rPr lang="en-US" sz="2700">
                <a:solidFill>
                  <a:srgbClr val="000000"/>
                </a:solidFill>
                <a:latin typeface="Century Gothic Paneuropean"/>
                <a:ea typeface="Century Gothic Paneuropean"/>
                <a:cs typeface="Century Gothic Paneuropean"/>
                <a:sym typeface="Century Gothic Paneuropean"/>
              </a:rPr>
              <a:t>: A clustering problem is where you want to discover the inherent groupings in the data, such as grouping customers by purchasing behavior.</a:t>
            </a:r>
          </a:p>
          <a:p>
            <a:pPr algn="l">
              <a:lnSpc>
                <a:spcPts val="3240"/>
              </a:lnSpc>
            </a:pPr>
          </a:p>
          <a:p>
            <a:pPr algn="l">
              <a:lnSpc>
                <a:spcPts val="3240"/>
              </a:lnSpc>
            </a:pPr>
          </a:p>
          <a:p>
            <a:pPr algn="l">
              <a:lnSpc>
                <a:spcPts val="3240"/>
              </a:lnSpc>
            </a:pPr>
            <a:r>
              <a:rPr lang="en-US" b="true" sz="2700">
                <a:solidFill>
                  <a:srgbClr val="000000"/>
                </a:solidFill>
                <a:latin typeface="Century Gothic Paneuropean Bold"/>
                <a:ea typeface="Century Gothic Paneuropean Bold"/>
                <a:cs typeface="Century Gothic Paneuropean Bold"/>
                <a:sym typeface="Century Gothic Paneuropean Bold"/>
              </a:rPr>
              <a:t>Association</a:t>
            </a:r>
            <a:r>
              <a:rPr lang="en-US" sz="2700">
                <a:solidFill>
                  <a:srgbClr val="000000"/>
                </a:solidFill>
                <a:latin typeface="Century Gothic Paneuropean"/>
                <a:ea typeface="Century Gothic Paneuropean"/>
                <a:cs typeface="Century Gothic Paneuropean"/>
                <a:sym typeface="Century Gothic Paneuropean"/>
              </a:rPr>
              <a:t>:  An association rule learning problem is where you want to discover rules that describe large portions of your data, such as people that buy X also tend to buy Y.</a:t>
            </a:r>
          </a:p>
          <a:p>
            <a:pPr algn="l">
              <a:lnSpc>
                <a:spcPts val="3240"/>
              </a:lnSpc>
            </a:pPr>
          </a:p>
          <a:p>
            <a:pPr algn="l">
              <a:lnSpc>
                <a:spcPts val="3240"/>
              </a:lnSpc>
            </a:pPr>
          </a:p>
        </p:txBody>
      </p:sp>
      <p:sp>
        <p:nvSpPr>
          <p:cNvPr name="TextBox 4" id="4"/>
          <p:cNvSpPr txBox="true"/>
          <p:nvPr/>
        </p:nvSpPr>
        <p:spPr>
          <a:xfrm rot="0">
            <a:off x="2332664" y="5031210"/>
            <a:ext cx="10586028" cy="1709052"/>
          </a:xfrm>
          <a:prstGeom prst="rect">
            <a:avLst/>
          </a:prstGeom>
        </p:spPr>
        <p:txBody>
          <a:bodyPr anchor="t" rtlCol="false" tIns="0" lIns="0" bIns="0" rIns="0">
            <a:spAutoFit/>
          </a:bodyPr>
          <a:lstStyle/>
          <a:p>
            <a:pPr algn="l">
              <a:lnSpc>
                <a:spcPts val="3240"/>
              </a:lnSpc>
            </a:pPr>
            <a:r>
              <a:rPr lang="en-US" b="true" sz="2700">
                <a:solidFill>
                  <a:srgbClr val="000000"/>
                </a:solidFill>
                <a:latin typeface="Century Gothic Paneuropean Bold"/>
                <a:ea typeface="Century Gothic Paneuropean Bold"/>
                <a:cs typeface="Century Gothic Paneuropean Bold"/>
                <a:sym typeface="Century Gothic Paneuropean Bold"/>
              </a:rPr>
              <a:t>Examples</a:t>
            </a:r>
            <a:r>
              <a:rPr lang="en-US" sz="2700">
                <a:solidFill>
                  <a:srgbClr val="000000"/>
                </a:solidFill>
                <a:latin typeface="Century Gothic Paneuropean"/>
                <a:ea typeface="Century Gothic Paneuropean"/>
                <a:cs typeface="Century Gothic Paneuropean"/>
                <a:sym typeface="Century Gothic Paneuropean"/>
              </a:rPr>
              <a:t> of unsupervised learning algorithms are:</a:t>
            </a:r>
          </a:p>
          <a:p>
            <a:pPr algn="l">
              <a:lnSpc>
                <a:spcPts val="3240"/>
              </a:lnSpc>
            </a:pPr>
          </a:p>
          <a:p>
            <a:pPr algn="l" marL="1174432" indent="-391478" lvl="2">
              <a:lnSpc>
                <a:spcPts val="3240"/>
              </a:lnSpc>
              <a:buFont typeface="Arial"/>
              <a:buChar char="⚬"/>
            </a:pPr>
            <a:r>
              <a:rPr lang="en-US" sz="2700">
                <a:solidFill>
                  <a:srgbClr val="000000"/>
                </a:solidFill>
                <a:latin typeface="Century Gothic Paneuropean"/>
                <a:ea typeface="Century Gothic Paneuropean"/>
                <a:cs typeface="Century Gothic Paneuropean"/>
                <a:sym typeface="Century Gothic Paneuropean"/>
              </a:rPr>
              <a:t>k-means for clustering problems.</a:t>
            </a:r>
          </a:p>
          <a:p>
            <a:pPr algn="l" marL="1174432" indent="-391478" lvl="2">
              <a:lnSpc>
                <a:spcPts val="3240"/>
              </a:lnSpc>
              <a:buFont typeface="Arial"/>
              <a:buChar char="⚬"/>
            </a:pPr>
            <a:r>
              <a:rPr lang="en-US" sz="2700">
                <a:solidFill>
                  <a:srgbClr val="000000"/>
                </a:solidFill>
                <a:latin typeface="Century Gothic Paneuropean"/>
                <a:ea typeface="Century Gothic Paneuropean"/>
                <a:cs typeface="Century Gothic Paneuropean"/>
                <a:sym typeface="Century Gothic Paneuropean"/>
              </a:rPr>
              <a:t>Apriori algorithm for association rule learning problems</a:t>
            </a:r>
          </a:p>
        </p:txBody>
      </p:sp>
      <p:sp>
        <p:nvSpPr>
          <p:cNvPr name="TextBox 5" id="5"/>
          <p:cNvSpPr txBox="true"/>
          <p:nvPr/>
        </p:nvSpPr>
        <p:spPr>
          <a:xfrm rot="0">
            <a:off x="1958589" y="7480184"/>
            <a:ext cx="14939677" cy="1638300"/>
          </a:xfrm>
          <a:prstGeom prst="rect">
            <a:avLst/>
          </a:prstGeom>
        </p:spPr>
        <p:txBody>
          <a:bodyPr anchor="t" rtlCol="false" tIns="0" lIns="0" bIns="0" rIns="0">
            <a:spAutoFit/>
          </a:bodyPr>
          <a:lstStyle/>
          <a:p>
            <a:pPr algn="l">
              <a:lnSpc>
                <a:spcPts val="3240"/>
              </a:lnSpc>
            </a:pPr>
            <a:r>
              <a:rPr lang="en-US" sz="2700">
                <a:solidFill>
                  <a:srgbClr val="000000"/>
                </a:solidFill>
                <a:latin typeface="Century Gothic Paneuropean"/>
                <a:ea typeface="Century Gothic Paneuropean"/>
                <a:cs typeface="Century Gothic Paneuropean"/>
                <a:sym typeface="Century Gothic Paneuropean"/>
              </a:rPr>
              <a:t>The most basic disadvantage of any </a:t>
            </a:r>
            <a:r>
              <a:rPr lang="en-US" b="true" sz="2700">
                <a:solidFill>
                  <a:srgbClr val="000000"/>
                </a:solidFill>
                <a:latin typeface="Century Gothic Paneuropean Bold"/>
                <a:ea typeface="Century Gothic Paneuropean Bold"/>
                <a:cs typeface="Century Gothic Paneuropean Bold"/>
                <a:sym typeface="Century Gothic Paneuropean Bold"/>
              </a:rPr>
              <a:t>Supervised Learning</a:t>
            </a:r>
            <a:r>
              <a:rPr lang="en-US" sz="2700">
                <a:solidFill>
                  <a:srgbClr val="000000"/>
                </a:solidFill>
                <a:latin typeface="Century Gothic Paneuropean"/>
                <a:ea typeface="Century Gothic Paneuropean"/>
                <a:cs typeface="Century Gothic Paneuropean"/>
                <a:sym typeface="Century Gothic Paneuropean"/>
              </a:rPr>
              <a:t> algorithm is that the dataset has to be hand-labeled either by a Machine Learning Engineer or a Data Scientist. This is a very </a:t>
            </a:r>
            <a:r>
              <a:rPr lang="en-US" sz="2700" i="true">
                <a:solidFill>
                  <a:srgbClr val="000000"/>
                </a:solidFill>
                <a:latin typeface="Century Gothic Paneuropean Italics"/>
                <a:ea typeface="Century Gothic Paneuropean Italics"/>
                <a:cs typeface="Century Gothic Paneuropean Italics"/>
                <a:sym typeface="Century Gothic Paneuropean Italics"/>
              </a:rPr>
              <a:t>costly process</a:t>
            </a:r>
            <a:r>
              <a:rPr lang="en-US" sz="2700">
                <a:solidFill>
                  <a:srgbClr val="000000"/>
                </a:solidFill>
                <a:latin typeface="Century Gothic Paneuropean"/>
                <a:ea typeface="Century Gothic Paneuropean"/>
                <a:cs typeface="Century Gothic Paneuropean"/>
                <a:sym typeface="Century Gothic Paneuropean"/>
              </a:rPr>
              <a:t>, especially when dealing with large volumes of data. The most basic disadvantage of any </a:t>
            </a:r>
            <a:r>
              <a:rPr lang="en-US" b="true" sz="2700">
                <a:solidFill>
                  <a:srgbClr val="000000"/>
                </a:solidFill>
                <a:latin typeface="Century Gothic Paneuropean Bold"/>
                <a:ea typeface="Century Gothic Paneuropean Bold"/>
                <a:cs typeface="Century Gothic Paneuropean Bold"/>
                <a:sym typeface="Century Gothic Paneuropean Bold"/>
              </a:rPr>
              <a:t>Unsupervised Learning</a:t>
            </a:r>
            <a:r>
              <a:rPr lang="en-US" sz="2700">
                <a:solidFill>
                  <a:srgbClr val="000000"/>
                </a:solidFill>
                <a:latin typeface="Century Gothic Paneuropean"/>
                <a:ea typeface="Century Gothic Paneuropean"/>
                <a:cs typeface="Century Gothic Paneuropean"/>
                <a:sym typeface="Century Gothic Paneuropean"/>
              </a:rPr>
              <a:t> is that it’s </a:t>
            </a:r>
            <a:r>
              <a:rPr lang="en-US" b="true" sz="2700">
                <a:solidFill>
                  <a:srgbClr val="000000"/>
                </a:solidFill>
                <a:latin typeface="Century Gothic Paneuropean Bold"/>
                <a:ea typeface="Century Gothic Paneuropean Bold"/>
                <a:cs typeface="Century Gothic Paneuropean Bold"/>
                <a:sym typeface="Century Gothic Paneuropean Bold"/>
              </a:rPr>
              <a:t>application spectrum is limited</a:t>
            </a:r>
            <a:r>
              <a:rPr lang="en-US" sz="2700">
                <a:solidFill>
                  <a:srgbClr val="000000"/>
                </a:solidFill>
                <a:latin typeface="Century Gothic Paneuropean"/>
                <a:ea typeface="Century Gothic Paneuropean"/>
                <a:cs typeface="Century Gothic Paneuropean"/>
                <a:sym typeface="Century Gothic Paneuropean"/>
              </a:rPr>
              <a: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34943" y="684798"/>
            <a:ext cx="7045823" cy="462563"/>
          </a:xfrm>
          <a:prstGeom prst="rect">
            <a:avLst/>
          </a:prstGeom>
        </p:spPr>
        <p:txBody>
          <a:bodyPr anchor="t" rtlCol="false" tIns="0" lIns="0" bIns="0" rIns="0">
            <a:spAutoFit/>
          </a:bodyPr>
          <a:lstStyle/>
          <a:p>
            <a:pPr algn="l">
              <a:lnSpc>
                <a:spcPts val="3240"/>
              </a:lnSpc>
            </a:pPr>
            <a:r>
              <a:rPr lang="en-US" b="true" sz="2700">
                <a:solidFill>
                  <a:srgbClr val="000000"/>
                </a:solidFill>
                <a:latin typeface="Century Gothic Paneuropean Bold"/>
                <a:ea typeface="Century Gothic Paneuropean Bold"/>
                <a:cs typeface="Century Gothic Paneuropean Bold"/>
                <a:sym typeface="Century Gothic Paneuropean Bold"/>
              </a:rPr>
              <a:t>Semi-supervised machine learning:</a:t>
            </a:r>
          </a:p>
        </p:txBody>
      </p:sp>
      <p:sp>
        <p:nvSpPr>
          <p:cNvPr name="TextBox 3" id="3"/>
          <p:cNvSpPr txBox="true"/>
          <p:nvPr/>
        </p:nvSpPr>
        <p:spPr>
          <a:xfrm rot="0">
            <a:off x="1422471" y="1513809"/>
            <a:ext cx="13716591" cy="1709052"/>
          </a:xfrm>
          <a:prstGeom prst="rect">
            <a:avLst/>
          </a:prstGeom>
        </p:spPr>
        <p:txBody>
          <a:bodyPr anchor="t" rtlCol="false" tIns="0" lIns="0" bIns="0" rIns="0">
            <a:spAutoFit/>
          </a:bodyPr>
          <a:lstStyle/>
          <a:p>
            <a:pPr algn="l">
              <a:lnSpc>
                <a:spcPts val="3240"/>
              </a:lnSpc>
            </a:pPr>
            <a:r>
              <a:rPr lang="en-US" sz="2700">
                <a:solidFill>
                  <a:srgbClr val="000000"/>
                </a:solidFill>
                <a:latin typeface="Century Gothic Paneuropean"/>
                <a:ea typeface="Century Gothic Paneuropean"/>
                <a:cs typeface="Century Gothic Paneuropean"/>
                <a:sym typeface="Century Gothic Paneuropean"/>
              </a:rPr>
              <a:t>To counter these disadvantages, the concept of </a:t>
            </a:r>
            <a:r>
              <a:rPr lang="en-US" b="true" sz="2700">
                <a:solidFill>
                  <a:srgbClr val="000000"/>
                </a:solidFill>
                <a:latin typeface="Century Gothic Paneuropean Bold"/>
                <a:ea typeface="Century Gothic Paneuropean Bold"/>
                <a:cs typeface="Century Gothic Paneuropean Bold"/>
                <a:sym typeface="Century Gothic Paneuropean Bold"/>
              </a:rPr>
              <a:t>Semi-Supervised Learning</a:t>
            </a:r>
            <a:r>
              <a:rPr lang="en-US" sz="2700">
                <a:solidFill>
                  <a:srgbClr val="000000"/>
                </a:solidFill>
                <a:latin typeface="Century Gothic Paneuropean"/>
                <a:ea typeface="Century Gothic Paneuropean"/>
                <a:cs typeface="Century Gothic Paneuropean"/>
                <a:sym typeface="Century Gothic Paneuropean"/>
              </a:rPr>
              <a:t> was introduced. In this type of learning, the algorithm is trained upon a combination of labeled and unlabeled data. Typically, this combination will contain a very small amount of labeled data and a very large amount of unlabeled data.</a:t>
            </a:r>
          </a:p>
        </p:txBody>
      </p:sp>
      <p:sp>
        <p:nvSpPr>
          <p:cNvPr name="TextBox 4" id="4"/>
          <p:cNvSpPr txBox="true"/>
          <p:nvPr/>
        </p:nvSpPr>
        <p:spPr>
          <a:xfrm rot="0">
            <a:off x="1638955" y="3861439"/>
            <a:ext cx="6237799" cy="3371050"/>
          </a:xfrm>
          <a:prstGeom prst="rect">
            <a:avLst/>
          </a:prstGeom>
        </p:spPr>
        <p:txBody>
          <a:bodyPr anchor="t" rtlCol="false" tIns="0" lIns="0" bIns="0" rIns="0">
            <a:spAutoFit/>
          </a:bodyPr>
          <a:lstStyle/>
          <a:p>
            <a:pPr algn="l" marL="488632" indent="-244316" lvl="1">
              <a:lnSpc>
                <a:spcPts val="3240"/>
              </a:lnSpc>
              <a:buFont typeface="Arial"/>
              <a:buChar char="•"/>
            </a:pPr>
            <a:r>
              <a:rPr lang="en-US" sz="2700">
                <a:solidFill>
                  <a:srgbClr val="000000"/>
                </a:solidFill>
                <a:latin typeface="Century Gothic Paneuropean"/>
                <a:ea typeface="Century Gothic Paneuropean"/>
                <a:cs typeface="Century Gothic Paneuropean"/>
                <a:sym typeface="Century Gothic Paneuropean"/>
              </a:rPr>
              <a:t>In semi supervised learning labelled data is used to learn a model and using that model unlabeled data is labelled called pseudo labelling now using whole data model is trained for further use</a:t>
            </a:r>
          </a:p>
          <a:p>
            <a:pPr algn="l" marL="488632" indent="-244316" lvl="1">
              <a:lnSpc>
                <a:spcPts val="3240"/>
              </a:lnSpc>
            </a:pPr>
          </a:p>
        </p:txBody>
      </p:sp>
      <p:grpSp>
        <p:nvGrpSpPr>
          <p:cNvPr name="Group 5" id="5"/>
          <p:cNvGrpSpPr/>
          <p:nvPr/>
        </p:nvGrpSpPr>
        <p:grpSpPr>
          <a:xfrm rot="0">
            <a:off x="8912434" y="3404364"/>
            <a:ext cx="6862856" cy="6344480"/>
            <a:chOff x="0" y="0"/>
            <a:chExt cx="9780105" cy="9041380"/>
          </a:xfrm>
        </p:grpSpPr>
        <p:sp>
          <p:nvSpPr>
            <p:cNvPr name="Freeform 6" id="6"/>
            <p:cNvSpPr/>
            <p:nvPr/>
          </p:nvSpPr>
          <p:spPr>
            <a:xfrm flipH="false" flipV="false" rot="0">
              <a:off x="0" y="0"/>
              <a:ext cx="9780143" cy="9041405"/>
            </a:xfrm>
            <a:custGeom>
              <a:avLst/>
              <a:gdLst/>
              <a:ahLst/>
              <a:cxnLst/>
              <a:rect r="r" b="b" t="t" l="l"/>
              <a:pathLst>
                <a:path h="9041405" w="9780143">
                  <a:moveTo>
                    <a:pt x="0" y="0"/>
                  </a:moveTo>
                  <a:lnTo>
                    <a:pt x="9780143" y="0"/>
                  </a:lnTo>
                  <a:lnTo>
                    <a:pt x="9780143" y="9041405"/>
                  </a:lnTo>
                  <a:lnTo>
                    <a:pt x="0" y="9041405"/>
                  </a:lnTo>
                  <a:lnTo>
                    <a:pt x="0" y="0"/>
                  </a:lnTo>
                  <a:close/>
                </a:path>
              </a:pathLst>
            </a:custGeom>
            <a:blipFill>
              <a:blip r:embed="rId2"/>
              <a:stretch>
                <a:fillRect l="0" t="-31088" r="0" b="-31088"/>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279401" y="589674"/>
            <a:ext cx="11007633" cy="878053"/>
          </a:xfrm>
          <a:prstGeom prst="rect">
            <a:avLst/>
          </a:prstGeom>
        </p:spPr>
        <p:txBody>
          <a:bodyPr anchor="t" rtlCol="false" tIns="0" lIns="0" bIns="0" rIns="0">
            <a:spAutoFit/>
          </a:bodyPr>
          <a:lstStyle/>
          <a:p>
            <a:pPr algn="l">
              <a:lnSpc>
                <a:spcPts val="3240"/>
              </a:lnSpc>
            </a:pPr>
            <a:r>
              <a:rPr lang="en-US" sz="2700">
                <a:solidFill>
                  <a:srgbClr val="000000"/>
                </a:solidFill>
                <a:latin typeface="Century Gothic Paneuropean"/>
                <a:ea typeface="Century Gothic Paneuropean"/>
                <a:cs typeface="Century Gothic Paneuropean"/>
                <a:sym typeface="Century Gothic Paneuropean"/>
              </a:rPr>
              <a:t>Model with labellled data and model with both labelled and unlabelled data</a:t>
            </a:r>
          </a:p>
        </p:txBody>
      </p:sp>
      <p:grpSp>
        <p:nvGrpSpPr>
          <p:cNvPr name="Group 3" id="3"/>
          <p:cNvGrpSpPr/>
          <p:nvPr/>
        </p:nvGrpSpPr>
        <p:grpSpPr>
          <a:xfrm rot="0">
            <a:off x="4230122" y="1467726"/>
            <a:ext cx="7685313" cy="5442852"/>
            <a:chOff x="0" y="0"/>
            <a:chExt cx="10247084" cy="7257136"/>
          </a:xfrm>
        </p:grpSpPr>
        <p:sp>
          <p:nvSpPr>
            <p:cNvPr name="Freeform 4" id="4" descr="Image result for semi supervised learning"/>
            <p:cNvSpPr/>
            <p:nvPr/>
          </p:nvSpPr>
          <p:spPr>
            <a:xfrm flipH="false" flipV="false" rot="0">
              <a:off x="0" y="0"/>
              <a:ext cx="10247122" cy="7257161"/>
            </a:xfrm>
            <a:custGeom>
              <a:avLst/>
              <a:gdLst/>
              <a:ahLst/>
              <a:cxnLst/>
              <a:rect r="r" b="b" t="t" l="l"/>
              <a:pathLst>
                <a:path h="7257161" w="10247122">
                  <a:moveTo>
                    <a:pt x="0" y="0"/>
                  </a:moveTo>
                  <a:lnTo>
                    <a:pt x="10247122" y="0"/>
                  </a:lnTo>
                  <a:lnTo>
                    <a:pt x="10247122" y="7257161"/>
                  </a:lnTo>
                  <a:lnTo>
                    <a:pt x="0" y="7257161"/>
                  </a:lnTo>
                  <a:lnTo>
                    <a:pt x="0" y="0"/>
                  </a:lnTo>
                  <a:close/>
                </a:path>
              </a:pathLst>
            </a:custGeom>
            <a:blipFill>
              <a:blip r:embed="rId2"/>
              <a:stretch>
                <a:fillRect l="0" t="0" r="0" b="-19788"/>
              </a:stretch>
            </a:blipFill>
          </p:spPr>
        </p:sp>
      </p:grpSp>
      <p:sp>
        <p:nvSpPr>
          <p:cNvPr name="TextBox 5" id="5"/>
          <p:cNvSpPr txBox="true"/>
          <p:nvPr/>
        </p:nvSpPr>
        <p:spPr>
          <a:xfrm rot="0">
            <a:off x="1177007" y="6225840"/>
            <a:ext cx="15678925" cy="3686175"/>
          </a:xfrm>
          <a:prstGeom prst="rect">
            <a:avLst/>
          </a:prstGeom>
        </p:spPr>
        <p:txBody>
          <a:bodyPr anchor="t" rtlCol="false" tIns="0" lIns="0" bIns="0" rIns="0">
            <a:spAutoFit/>
          </a:bodyPr>
          <a:lstStyle/>
          <a:p>
            <a:pPr algn="l">
              <a:lnSpc>
                <a:spcPts val="3240"/>
              </a:lnSpc>
            </a:pPr>
            <a:r>
              <a:rPr lang="en-US" sz="2700">
                <a:solidFill>
                  <a:srgbClr val="000000"/>
                </a:solidFill>
                <a:latin typeface="Century Gothic Paneuropean"/>
                <a:ea typeface="Century Gothic Paneuropean"/>
                <a:cs typeface="Century Gothic Paneuropean"/>
                <a:sym typeface="Century Gothic Paneuropean"/>
              </a:rPr>
              <a:t> </a:t>
            </a:r>
          </a:p>
          <a:p>
            <a:pPr algn="l">
              <a:lnSpc>
                <a:spcPts val="3240"/>
              </a:lnSpc>
            </a:pPr>
          </a:p>
          <a:p>
            <a:pPr algn="l">
              <a:lnSpc>
                <a:spcPts val="3240"/>
              </a:lnSpc>
            </a:pPr>
          </a:p>
          <a:p>
            <a:pPr algn="l">
              <a:lnSpc>
                <a:spcPts val="3240"/>
              </a:lnSpc>
            </a:pPr>
          </a:p>
          <a:p>
            <a:pPr algn="l">
              <a:lnSpc>
                <a:spcPts val="3240"/>
              </a:lnSpc>
            </a:pPr>
            <a:r>
              <a:rPr lang="en-US" sz="2700">
                <a:solidFill>
                  <a:srgbClr val="000000"/>
                </a:solidFill>
                <a:latin typeface="Century Gothic Paneuropean"/>
                <a:ea typeface="Century Gothic Paneuropean"/>
                <a:cs typeface="Century Gothic Paneuropean"/>
                <a:sym typeface="Century Gothic Paneuropean"/>
              </a:rPr>
              <a:t>Intuitively, one may imagine the three types of learning algorithms as Supervised learning where a student is under the supervision of a teacher at both home and school, Unsupervised learning where a student has to figure out a concept himself and Semi-Supervised learning where a teacher teaches a few concepts in class and gives questions as homework which are based on similar concepts.</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880887" y="529601"/>
            <a:ext cx="10801426" cy="695325"/>
          </a:xfrm>
          <a:prstGeom prst="rect">
            <a:avLst/>
          </a:prstGeom>
        </p:spPr>
        <p:txBody>
          <a:bodyPr anchor="t" rtlCol="false" tIns="0" lIns="0" bIns="0" rIns="0">
            <a:spAutoFit/>
          </a:bodyPr>
          <a:lstStyle/>
          <a:p>
            <a:pPr algn="l">
              <a:lnSpc>
                <a:spcPts val="5569"/>
              </a:lnSpc>
            </a:pPr>
            <a:r>
              <a:rPr lang="en-US" sz="4641" b="true">
                <a:solidFill>
                  <a:srgbClr val="000000"/>
                </a:solidFill>
                <a:latin typeface="Century Gothic Paneuropean Bold"/>
                <a:ea typeface="Century Gothic Paneuropean Bold"/>
                <a:cs typeface="Century Gothic Paneuropean Bold"/>
                <a:sym typeface="Century Gothic Paneuropean Bold"/>
              </a:rPr>
              <a:t>REGRESSION</a:t>
            </a:r>
          </a:p>
        </p:txBody>
      </p:sp>
      <p:sp>
        <p:nvSpPr>
          <p:cNvPr name="TextBox 3" id="3"/>
          <p:cNvSpPr txBox="true"/>
          <p:nvPr/>
        </p:nvSpPr>
        <p:spPr>
          <a:xfrm rot="0">
            <a:off x="2015242" y="2771108"/>
            <a:ext cx="13942819" cy="3383547"/>
          </a:xfrm>
          <a:prstGeom prst="rect">
            <a:avLst/>
          </a:prstGeom>
        </p:spPr>
        <p:txBody>
          <a:bodyPr anchor="t" rtlCol="false" tIns="0" lIns="0" bIns="0" rIns="0">
            <a:spAutoFit/>
          </a:bodyPr>
          <a:lstStyle/>
          <a:p>
            <a:pPr algn="l">
              <a:lnSpc>
                <a:spcPts val="4555"/>
              </a:lnSpc>
            </a:pPr>
            <a:r>
              <a:rPr lang="en-US" sz="3796">
                <a:solidFill>
                  <a:srgbClr val="000000"/>
                </a:solidFill>
                <a:latin typeface="Century Gothic Paneuropean"/>
                <a:ea typeface="Century Gothic Paneuropean"/>
                <a:cs typeface="Century Gothic Paneuropean"/>
                <a:sym typeface="Century Gothic Paneuropean"/>
              </a:rPr>
              <a:t> Regression is a statistical measurement used in finance, investing, and other disciplines that attempts to determine the strength of the relationship between one dependent variable and a series of other changing variables or independent variable</a:t>
            </a:r>
          </a:p>
          <a:p>
            <a:pPr algn="l">
              <a:lnSpc>
                <a:spcPts val="4555"/>
              </a:lnSpc>
            </a:pP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186949" y="1038225"/>
            <a:ext cx="10801426" cy="695325"/>
          </a:xfrm>
          <a:prstGeom prst="rect">
            <a:avLst/>
          </a:prstGeom>
        </p:spPr>
        <p:txBody>
          <a:bodyPr anchor="t" rtlCol="false" tIns="0" lIns="0" bIns="0" rIns="0">
            <a:spAutoFit/>
          </a:bodyPr>
          <a:lstStyle/>
          <a:p>
            <a:pPr algn="l">
              <a:lnSpc>
                <a:spcPts val="5569"/>
              </a:lnSpc>
            </a:pPr>
            <a:r>
              <a:rPr lang="en-US" sz="4641" b="true">
                <a:solidFill>
                  <a:srgbClr val="000000"/>
                </a:solidFill>
                <a:latin typeface="Century Gothic Paneuropean Bold"/>
                <a:ea typeface="Century Gothic Paneuropean Bold"/>
                <a:cs typeface="Century Gothic Paneuropean Bold"/>
                <a:sym typeface="Century Gothic Paneuropean Bold"/>
              </a:rPr>
              <a:t>REGRESSION</a:t>
            </a:r>
          </a:p>
        </p:txBody>
      </p:sp>
      <p:sp>
        <p:nvSpPr>
          <p:cNvPr name="TextBox 3" id="3"/>
          <p:cNvSpPr txBox="true"/>
          <p:nvPr/>
        </p:nvSpPr>
        <p:spPr>
          <a:xfrm rot="0">
            <a:off x="2297527" y="2140020"/>
            <a:ext cx="13121395" cy="6888480"/>
          </a:xfrm>
          <a:prstGeom prst="rect">
            <a:avLst/>
          </a:prstGeom>
        </p:spPr>
        <p:txBody>
          <a:bodyPr anchor="t" rtlCol="false" tIns="0" lIns="0" bIns="0" rIns="0">
            <a:spAutoFit/>
          </a:bodyPr>
          <a:lstStyle/>
          <a:p>
            <a:pPr algn="l" marL="814388" indent="-407194" lvl="1">
              <a:lnSpc>
                <a:spcPts val="9135"/>
              </a:lnSpc>
              <a:buFont typeface="Arial"/>
              <a:buChar char="•"/>
            </a:pPr>
            <a:r>
              <a:rPr lang="en-US" sz="4500">
                <a:solidFill>
                  <a:srgbClr val="000000"/>
                </a:solidFill>
                <a:latin typeface="Copperplate Gothic 32 AB"/>
                <a:ea typeface="Copperplate Gothic 32 AB"/>
                <a:cs typeface="Copperplate Gothic 32 AB"/>
                <a:sym typeface="Copperplate Gothic 32 AB"/>
              </a:rPr>
              <a:t>linear regression</a:t>
            </a:r>
          </a:p>
          <a:p>
            <a:pPr algn="l" marL="2260946" indent="-376824" lvl="5">
              <a:lnSpc>
                <a:spcPts val="9135"/>
              </a:lnSpc>
              <a:buFont typeface="Arial"/>
              <a:buChar char="⚬"/>
            </a:pPr>
            <a:r>
              <a:rPr lang="en-US" sz="4500">
                <a:solidFill>
                  <a:srgbClr val="000000"/>
                </a:solidFill>
                <a:latin typeface="Copperplate Gothic 32 AB"/>
                <a:ea typeface="Copperplate Gothic 32 AB"/>
                <a:cs typeface="Copperplate Gothic 32 AB"/>
                <a:sym typeface="Copperplate Gothic 32 AB"/>
              </a:rPr>
              <a:t>Simple linear regression</a:t>
            </a:r>
          </a:p>
          <a:p>
            <a:pPr algn="l" marL="2260946" indent="-376824" lvl="5">
              <a:lnSpc>
                <a:spcPts val="9135"/>
              </a:lnSpc>
              <a:buFont typeface="Arial"/>
              <a:buChar char="⚬"/>
            </a:pPr>
            <a:r>
              <a:rPr lang="en-US" sz="4500">
                <a:solidFill>
                  <a:srgbClr val="000000"/>
                </a:solidFill>
                <a:latin typeface="Copperplate Gothic 32 AB"/>
                <a:ea typeface="Copperplate Gothic 32 AB"/>
                <a:cs typeface="Copperplate Gothic 32 AB"/>
                <a:sym typeface="Copperplate Gothic 32 AB"/>
              </a:rPr>
              <a:t>Multiple linear regression</a:t>
            </a:r>
          </a:p>
          <a:p>
            <a:pPr algn="l" marL="814388" indent="-407194" lvl="1">
              <a:lnSpc>
                <a:spcPts val="9135"/>
              </a:lnSpc>
              <a:buFont typeface="Arial"/>
              <a:buChar char="•"/>
            </a:pPr>
            <a:r>
              <a:rPr lang="en-US" sz="4500">
                <a:solidFill>
                  <a:srgbClr val="000000"/>
                </a:solidFill>
                <a:latin typeface="Copperplate Gothic 32 AB"/>
                <a:ea typeface="Copperplate Gothic 32 AB"/>
                <a:cs typeface="Copperplate Gothic 32 AB"/>
                <a:sym typeface="Copperplate Gothic 32 AB"/>
              </a:rPr>
              <a:t>Polynomial regression</a:t>
            </a:r>
          </a:p>
          <a:p>
            <a:pPr algn="l" marL="814388" indent="-407194" lvl="1">
              <a:lnSpc>
                <a:spcPts val="9135"/>
              </a:lnSpc>
              <a:buFont typeface="Arial"/>
              <a:buChar char="•"/>
            </a:pPr>
            <a:r>
              <a:rPr lang="en-US" sz="4500">
                <a:solidFill>
                  <a:srgbClr val="000000"/>
                </a:solidFill>
                <a:latin typeface="Copperplate Gothic 32 AB"/>
                <a:ea typeface="Copperplate Gothic 32 AB"/>
                <a:cs typeface="Copperplate Gothic 32 AB"/>
                <a:sym typeface="Copperplate Gothic 32 AB"/>
              </a:rPr>
              <a:t>Decision tree regression</a:t>
            </a:r>
          </a:p>
          <a:p>
            <a:pPr algn="l" marL="814388" indent="-407194" lvl="1">
              <a:lnSpc>
                <a:spcPts val="9135"/>
              </a:lnSpc>
              <a:buFont typeface="Arial"/>
              <a:buChar char="•"/>
            </a:pPr>
            <a:r>
              <a:rPr lang="en-US" sz="4500">
                <a:solidFill>
                  <a:srgbClr val="000000"/>
                </a:solidFill>
                <a:latin typeface="Copperplate Gothic 32 AB"/>
                <a:ea typeface="Copperplate Gothic 32 AB"/>
                <a:cs typeface="Copperplate Gothic 32 AB"/>
                <a:sym typeface="Copperplate Gothic 32 AB"/>
              </a:rPr>
              <a:t>Random forest regression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09633" y="625104"/>
            <a:ext cx="11523945" cy="1123950"/>
          </a:xfrm>
          <a:prstGeom prst="rect">
            <a:avLst/>
          </a:prstGeom>
        </p:spPr>
        <p:txBody>
          <a:bodyPr anchor="t" rtlCol="false" tIns="0" lIns="0" bIns="0" rIns="0">
            <a:spAutoFit/>
          </a:bodyPr>
          <a:lstStyle/>
          <a:p>
            <a:pPr algn="l">
              <a:lnSpc>
                <a:spcPts val="8640"/>
              </a:lnSpc>
            </a:pPr>
            <a:r>
              <a:rPr lang="en-US" sz="7200">
                <a:solidFill>
                  <a:srgbClr val="004D80"/>
                </a:solidFill>
                <a:latin typeface="Arimo"/>
                <a:ea typeface="Arimo"/>
                <a:cs typeface="Arimo"/>
                <a:sym typeface="Arimo"/>
              </a:rPr>
              <a:t>Simple Linear regression</a:t>
            </a:r>
          </a:p>
        </p:txBody>
      </p:sp>
      <p:sp>
        <p:nvSpPr>
          <p:cNvPr name="TextBox 3" id="3"/>
          <p:cNvSpPr txBox="true"/>
          <p:nvPr/>
        </p:nvSpPr>
        <p:spPr>
          <a:xfrm rot="0">
            <a:off x="1877463" y="2992450"/>
            <a:ext cx="7041147" cy="4038600"/>
          </a:xfrm>
          <a:prstGeom prst="rect">
            <a:avLst/>
          </a:prstGeom>
        </p:spPr>
        <p:txBody>
          <a:bodyPr anchor="t" rtlCol="false" tIns="0" lIns="0" bIns="0" rIns="0">
            <a:spAutoFit/>
          </a:bodyPr>
          <a:lstStyle/>
          <a:p>
            <a:pPr algn="l" marL="534510" indent="-267255" lvl="1">
              <a:lnSpc>
                <a:spcPts val="3544"/>
              </a:lnSpc>
              <a:buFont typeface="Arial"/>
              <a:buChar char="•"/>
            </a:pPr>
            <a:r>
              <a:rPr lang="en-US" sz="2953">
                <a:solidFill>
                  <a:srgbClr val="000000"/>
                </a:solidFill>
                <a:latin typeface="Georgia"/>
                <a:ea typeface="Georgia"/>
                <a:cs typeface="Georgia"/>
                <a:sym typeface="Georgia"/>
              </a:rPr>
              <a:t>The simple linear regression models are used to show or predict the relationship between the two variables or factors</a:t>
            </a:r>
          </a:p>
          <a:p>
            <a:pPr algn="l" marL="534510" indent="-267255" lvl="1">
              <a:lnSpc>
                <a:spcPts val="3544"/>
              </a:lnSpc>
              <a:buFont typeface="Arial"/>
              <a:buChar char="•"/>
            </a:pPr>
            <a:r>
              <a:rPr lang="en-US" sz="2953">
                <a:solidFill>
                  <a:srgbClr val="000000"/>
                </a:solidFill>
                <a:latin typeface="Georgia"/>
                <a:ea typeface="Georgia"/>
                <a:cs typeface="Georgia"/>
                <a:sym typeface="Georgia"/>
              </a:rPr>
              <a:t>The factor that being predicted is called dependent variable and the factors that is are used to predict the dependent variable are called independent variables</a:t>
            </a:r>
          </a:p>
        </p:txBody>
      </p:sp>
      <p:grpSp>
        <p:nvGrpSpPr>
          <p:cNvPr name="Group 4" id="4"/>
          <p:cNvGrpSpPr/>
          <p:nvPr/>
        </p:nvGrpSpPr>
        <p:grpSpPr>
          <a:xfrm rot="0">
            <a:off x="9236897" y="3239138"/>
            <a:ext cx="7292806" cy="1945443"/>
            <a:chOff x="0" y="0"/>
            <a:chExt cx="9723741" cy="2593924"/>
          </a:xfrm>
        </p:grpSpPr>
        <p:sp>
          <p:nvSpPr>
            <p:cNvPr name="Freeform 5" id="5" descr="fullsizeoutput_d8.jpeg"/>
            <p:cNvSpPr/>
            <p:nvPr/>
          </p:nvSpPr>
          <p:spPr>
            <a:xfrm flipH="false" flipV="false" rot="0">
              <a:off x="0" y="0"/>
              <a:ext cx="9723792" cy="2593975"/>
            </a:xfrm>
            <a:custGeom>
              <a:avLst/>
              <a:gdLst/>
              <a:ahLst/>
              <a:cxnLst/>
              <a:rect r="r" b="b" t="t" l="l"/>
              <a:pathLst>
                <a:path h="2593975" w="9723792">
                  <a:moveTo>
                    <a:pt x="0" y="0"/>
                  </a:moveTo>
                  <a:lnTo>
                    <a:pt x="9723792" y="0"/>
                  </a:lnTo>
                  <a:lnTo>
                    <a:pt x="9723792" y="2593975"/>
                  </a:lnTo>
                  <a:lnTo>
                    <a:pt x="0" y="2593975"/>
                  </a:lnTo>
                  <a:lnTo>
                    <a:pt x="0" y="0"/>
                  </a:lnTo>
                  <a:close/>
                </a:path>
              </a:pathLst>
            </a:custGeom>
            <a:blipFill>
              <a:blip r:embed="rId2"/>
              <a:stretch>
                <a:fillRect l="0" t="-7271" r="0" b="-7269"/>
              </a:stretch>
            </a:blipFill>
          </p:spPr>
        </p:sp>
      </p:grpSp>
      <p:grpSp>
        <p:nvGrpSpPr>
          <p:cNvPr name="Group 6" id="6"/>
          <p:cNvGrpSpPr/>
          <p:nvPr/>
        </p:nvGrpSpPr>
        <p:grpSpPr>
          <a:xfrm rot="0">
            <a:off x="9740275" y="5710076"/>
            <a:ext cx="5625713" cy="3178035"/>
            <a:chOff x="0" y="0"/>
            <a:chExt cx="7500950" cy="4237380"/>
          </a:xfrm>
        </p:grpSpPr>
        <p:sp>
          <p:nvSpPr>
            <p:cNvPr name="Freeform 7" id="7" descr="lr.png"/>
            <p:cNvSpPr/>
            <p:nvPr/>
          </p:nvSpPr>
          <p:spPr>
            <a:xfrm flipH="false" flipV="false" rot="0">
              <a:off x="0" y="0"/>
              <a:ext cx="7501001" cy="4237355"/>
            </a:xfrm>
            <a:custGeom>
              <a:avLst/>
              <a:gdLst/>
              <a:ahLst/>
              <a:cxnLst/>
              <a:rect r="r" b="b" t="t" l="l"/>
              <a:pathLst>
                <a:path h="4237355" w="7501001">
                  <a:moveTo>
                    <a:pt x="0" y="0"/>
                  </a:moveTo>
                  <a:lnTo>
                    <a:pt x="7501001" y="0"/>
                  </a:lnTo>
                  <a:lnTo>
                    <a:pt x="7501001" y="4237355"/>
                  </a:lnTo>
                  <a:lnTo>
                    <a:pt x="0" y="4237355"/>
                  </a:lnTo>
                  <a:lnTo>
                    <a:pt x="0" y="0"/>
                  </a:lnTo>
                  <a:close/>
                </a:path>
              </a:pathLst>
            </a:custGeom>
            <a:blipFill>
              <a:blip r:embed="rId3"/>
              <a:stretch>
                <a:fillRect l="-1667" t="0" r="-1669" b="0"/>
              </a:stretch>
            </a:blipFill>
          </p:spPr>
        </p:sp>
      </p:grpSp>
      <p:sp>
        <p:nvSpPr>
          <p:cNvPr name="TextBox 8" id="8"/>
          <p:cNvSpPr txBox="true"/>
          <p:nvPr/>
        </p:nvSpPr>
        <p:spPr>
          <a:xfrm rot="0">
            <a:off x="10422980" y="9258300"/>
            <a:ext cx="5518556" cy="379657"/>
          </a:xfrm>
          <a:prstGeom prst="rect">
            <a:avLst/>
          </a:prstGeom>
        </p:spPr>
        <p:txBody>
          <a:bodyPr anchor="t" rtlCol="false" tIns="0" lIns="0" bIns="0" rIns="0">
            <a:spAutoFit/>
          </a:bodyPr>
          <a:lstStyle/>
          <a:p>
            <a:pPr algn="l">
              <a:lnSpc>
                <a:spcPts val="2530"/>
              </a:lnSpc>
            </a:pPr>
            <a:r>
              <a:rPr lang="en-US" b="true" sz="2109">
                <a:solidFill>
                  <a:srgbClr val="000000"/>
                </a:solidFill>
                <a:latin typeface="Century Gothic Paneuropean Bold"/>
                <a:ea typeface="Century Gothic Paneuropean Bold"/>
                <a:cs typeface="Century Gothic Paneuropean Bold"/>
                <a:sym typeface="Century Gothic Paneuropean Bold"/>
              </a:rPr>
              <a:t>Simple Linear regression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861038" y="635897"/>
            <a:ext cx="12708806" cy="1212580"/>
            <a:chOff x="0" y="0"/>
            <a:chExt cx="16945075" cy="1616774"/>
          </a:xfrm>
        </p:grpSpPr>
        <p:sp>
          <p:nvSpPr>
            <p:cNvPr name="Freeform 3" id="3"/>
            <p:cNvSpPr/>
            <p:nvPr/>
          </p:nvSpPr>
          <p:spPr>
            <a:xfrm flipH="false" flipV="false" rot="0">
              <a:off x="0" y="0"/>
              <a:ext cx="16945073" cy="1616769"/>
            </a:xfrm>
            <a:custGeom>
              <a:avLst/>
              <a:gdLst/>
              <a:ahLst/>
              <a:cxnLst/>
              <a:rect r="r" b="b" t="t" l="l"/>
              <a:pathLst>
                <a:path h="1616769" w="16945073">
                  <a:moveTo>
                    <a:pt x="0" y="0"/>
                  </a:moveTo>
                  <a:lnTo>
                    <a:pt x="16945073" y="0"/>
                  </a:lnTo>
                  <a:lnTo>
                    <a:pt x="16945073" y="1616769"/>
                  </a:lnTo>
                  <a:lnTo>
                    <a:pt x="0" y="1616769"/>
                  </a:lnTo>
                  <a:close/>
                </a:path>
              </a:pathLst>
            </a:custGeom>
            <a:blipFill>
              <a:blip r:embed="rId2">
                <a:alphaModFix amt="0"/>
              </a:blip>
              <a:stretch>
                <a:fillRect l="0" t="-113754" r="21139" b="-108342"/>
              </a:stretch>
            </a:blipFill>
          </p:spPr>
        </p:sp>
        <p:sp>
          <p:nvSpPr>
            <p:cNvPr name="TextBox 4" id="4"/>
            <p:cNvSpPr txBox="true"/>
            <p:nvPr/>
          </p:nvSpPr>
          <p:spPr>
            <a:xfrm>
              <a:off x="0" y="0"/>
              <a:ext cx="16945075" cy="1616774"/>
            </a:xfrm>
            <a:prstGeom prst="rect">
              <a:avLst/>
            </a:prstGeom>
          </p:spPr>
          <p:txBody>
            <a:bodyPr anchor="ctr" rtlCol="false" tIns="0" lIns="0" bIns="0" rIns="0"/>
            <a:lstStyle/>
            <a:p>
              <a:pPr algn="ctr">
                <a:lnSpc>
                  <a:spcPts val="4050"/>
                </a:lnSpc>
              </a:pPr>
              <a:r>
                <a:rPr lang="en-US" sz="3375">
                  <a:solidFill>
                    <a:srgbClr val="000000"/>
                  </a:solidFill>
                  <a:latin typeface="Century Gothic Paneuropean"/>
                  <a:ea typeface="Century Gothic Paneuropean"/>
                  <a:cs typeface="Century Gothic Paneuropean"/>
                  <a:sym typeface="Century Gothic Paneuropean"/>
                </a:rPr>
                <a:t>Predicting C02 emission with engine size feature using simple linear regression </a:t>
              </a:r>
            </a:p>
          </p:txBody>
        </p:sp>
      </p:grpSp>
      <p:grpSp>
        <p:nvGrpSpPr>
          <p:cNvPr name="Group 5" id="5"/>
          <p:cNvGrpSpPr/>
          <p:nvPr/>
        </p:nvGrpSpPr>
        <p:grpSpPr>
          <a:xfrm rot="0">
            <a:off x="2456193" y="2571750"/>
            <a:ext cx="6486106" cy="6013361"/>
            <a:chOff x="0" y="0"/>
            <a:chExt cx="8648141" cy="8017815"/>
          </a:xfrm>
        </p:grpSpPr>
        <p:sp>
          <p:nvSpPr>
            <p:cNvPr name="Freeform 6" id="6"/>
            <p:cNvSpPr/>
            <p:nvPr/>
          </p:nvSpPr>
          <p:spPr>
            <a:xfrm flipH="false" flipV="false" rot="0">
              <a:off x="0" y="0"/>
              <a:ext cx="8648192" cy="8017764"/>
            </a:xfrm>
            <a:custGeom>
              <a:avLst/>
              <a:gdLst/>
              <a:ahLst/>
              <a:cxnLst/>
              <a:rect r="r" b="b" t="t" l="l"/>
              <a:pathLst>
                <a:path h="8017764" w="8648192">
                  <a:moveTo>
                    <a:pt x="0" y="0"/>
                  </a:moveTo>
                  <a:lnTo>
                    <a:pt x="8648192" y="0"/>
                  </a:lnTo>
                  <a:lnTo>
                    <a:pt x="8648192" y="8017764"/>
                  </a:lnTo>
                  <a:lnTo>
                    <a:pt x="0" y="8017764"/>
                  </a:lnTo>
                  <a:lnTo>
                    <a:pt x="0" y="0"/>
                  </a:lnTo>
                  <a:close/>
                </a:path>
              </a:pathLst>
            </a:custGeom>
            <a:blipFill>
              <a:blip r:embed="rId3"/>
              <a:stretch>
                <a:fillRect l="-25011" t="0" r="-25011" b="0"/>
              </a:stretch>
            </a:blipFill>
          </p:spPr>
        </p:sp>
      </p:grpSp>
      <p:grpSp>
        <p:nvGrpSpPr>
          <p:cNvPr name="Group 7" id="7"/>
          <p:cNvGrpSpPr/>
          <p:nvPr/>
        </p:nvGrpSpPr>
        <p:grpSpPr>
          <a:xfrm rot="0">
            <a:off x="9794114" y="2571750"/>
            <a:ext cx="6051928" cy="6013361"/>
            <a:chOff x="0" y="0"/>
            <a:chExt cx="8069237" cy="8017815"/>
          </a:xfrm>
        </p:grpSpPr>
        <p:sp>
          <p:nvSpPr>
            <p:cNvPr name="Freeform 8" id="8"/>
            <p:cNvSpPr/>
            <p:nvPr/>
          </p:nvSpPr>
          <p:spPr>
            <a:xfrm flipH="false" flipV="false" rot="0">
              <a:off x="0" y="0"/>
              <a:ext cx="8069199" cy="8017764"/>
            </a:xfrm>
            <a:custGeom>
              <a:avLst/>
              <a:gdLst/>
              <a:ahLst/>
              <a:cxnLst/>
              <a:rect r="r" b="b" t="t" l="l"/>
              <a:pathLst>
                <a:path h="8017764" w="8069199">
                  <a:moveTo>
                    <a:pt x="0" y="0"/>
                  </a:moveTo>
                  <a:lnTo>
                    <a:pt x="8069199" y="0"/>
                  </a:lnTo>
                  <a:lnTo>
                    <a:pt x="8069199" y="8017764"/>
                  </a:lnTo>
                  <a:lnTo>
                    <a:pt x="0" y="8017764"/>
                  </a:lnTo>
                  <a:lnTo>
                    <a:pt x="0" y="0"/>
                  </a:lnTo>
                  <a:close/>
                </a:path>
              </a:pathLst>
            </a:custGeom>
            <a:blipFill>
              <a:blip r:embed="rId4"/>
              <a:stretch>
                <a:fillRect l="-20632" t="0" r="-20633" b="0"/>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82032" y="313611"/>
            <a:ext cx="11523945" cy="1095375"/>
          </a:xfrm>
          <a:prstGeom prst="rect">
            <a:avLst/>
          </a:prstGeom>
        </p:spPr>
        <p:txBody>
          <a:bodyPr anchor="t" rtlCol="false" tIns="0" lIns="0" bIns="0" rIns="0">
            <a:spAutoFit/>
          </a:bodyPr>
          <a:lstStyle/>
          <a:p>
            <a:pPr algn="l">
              <a:lnSpc>
                <a:spcPts val="8640"/>
              </a:lnSpc>
            </a:pPr>
            <a:r>
              <a:rPr lang="en-US" sz="7200">
                <a:solidFill>
                  <a:srgbClr val="5E5E5E"/>
                </a:solidFill>
                <a:latin typeface="Century Gothic Paneuropean"/>
                <a:ea typeface="Century Gothic Paneuropean"/>
                <a:cs typeface="Century Gothic Paneuropean"/>
                <a:sym typeface="Century Gothic Paneuropean"/>
              </a:rPr>
              <a:t>Multiple linear regression </a:t>
            </a:r>
          </a:p>
        </p:txBody>
      </p:sp>
      <p:sp>
        <p:nvSpPr>
          <p:cNvPr name="TextBox 3" id="3"/>
          <p:cNvSpPr txBox="true"/>
          <p:nvPr/>
        </p:nvSpPr>
        <p:spPr>
          <a:xfrm rot="0">
            <a:off x="1624202" y="3244806"/>
            <a:ext cx="6978729" cy="5608796"/>
          </a:xfrm>
          <a:prstGeom prst="rect">
            <a:avLst/>
          </a:prstGeom>
        </p:spPr>
        <p:txBody>
          <a:bodyPr anchor="t" rtlCol="false" tIns="0" lIns="0" bIns="0" rIns="0">
            <a:spAutoFit/>
          </a:bodyPr>
          <a:lstStyle/>
          <a:p>
            <a:pPr algn="l" marL="525959" indent="-262979" lvl="1">
              <a:lnSpc>
                <a:spcPts val="4998"/>
              </a:lnSpc>
              <a:buFont typeface="Arial"/>
              <a:buChar char="•"/>
            </a:pPr>
            <a:r>
              <a:rPr lang="en-US" sz="2906">
                <a:solidFill>
                  <a:srgbClr val="000000"/>
                </a:solidFill>
                <a:latin typeface="Century Gothic Paneuropean"/>
                <a:ea typeface="Century Gothic Paneuropean"/>
                <a:cs typeface="Century Gothic Paneuropean"/>
                <a:sym typeface="Century Gothic Paneuropean"/>
              </a:rPr>
              <a:t>Multiple</a:t>
            </a:r>
            <a:r>
              <a:rPr lang="en-US" b="true" sz="2906">
                <a:solidFill>
                  <a:srgbClr val="000000"/>
                </a:solidFill>
                <a:latin typeface="Century Gothic Paneuropean Bold"/>
                <a:ea typeface="Century Gothic Paneuropean Bold"/>
                <a:cs typeface="Century Gothic Paneuropean Bold"/>
                <a:sym typeface="Century Gothic Paneuropean Bold"/>
              </a:rPr>
              <a:t> </a:t>
            </a:r>
            <a:r>
              <a:rPr lang="en-US" sz="2906">
                <a:solidFill>
                  <a:srgbClr val="000000"/>
                </a:solidFill>
                <a:latin typeface="Century Gothic Paneuropean"/>
                <a:ea typeface="Century Gothic Paneuropean"/>
                <a:cs typeface="Century Gothic Paneuropean"/>
                <a:sym typeface="Century Gothic Paneuropean"/>
              </a:rPr>
              <a:t>regression is an extension of simple linear</a:t>
            </a:r>
            <a:r>
              <a:rPr lang="en-US" b="true" sz="2906">
                <a:solidFill>
                  <a:srgbClr val="000000"/>
                </a:solidFill>
                <a:latin typeface="Century Gothic Paneuropean Bold"/>
                <a:ea typeface="Century Gothic Paneuropean Bold"/>
                <a:cs typeface="Century Gothic Paneuropean Bold"/>
                <a:sym typeface="Century Gothic Paneuropean Bold"/>
              </a:rPr>
              <a:t> </a:t>
            </a:r>
            <a:r>
              <a:rPr lang="en-US" sz="2906">
                <a:solidFill>
                  <a:srgbClr val="000000"/>
                </a:solidFill>
                <a:latin typeface="Century Gothic Paneuropean"/>
                <a:ea typeface="Century Gothic Paneuropean"/>
                <a:cs typeface="Century Gothic Paneuropean"/>
                <a:sym typeface="Century Gothic Paneuropean"/>
              </a:rPr>
              <a:t>regression. It is used when we want to predict the value of a variable based on the value of two or more other variables. The variable we want to predict is called the dependent variable (or sometimes, the outcome, target or criterion variable).</a:t>
            </a:r>
          </a:p>
        </p:txBody>
      </p:sp>
      <p:grpSp>
        <p:nvGrpSpPr>
          <p:cNvPr name="Group 4" id="4"/>
          <p:cNvGrpSpPr/>
          <p:nvPr/>
        </p:nvGrpSpPr>
        <p:grpSpPr>
          <a:xfrm rot="0">
            <a:off x="9188434" y="3967877"/>
            <a:ext cx="7824273" cy="2908525"/>
            <a:chOff x="0" y="0"/>
            <a:chExt cx="10432364" cy="3878034"/>
          </a:xfrm>
        </p:grpSpPr>
        <p:sp>
          <p:nvSpPr>
            <p:cNvPr name="Freeform 5" id="5" descr="regression equation cartoon 2.png"/>
            <p:cNvSpPr/>
            <p:nvPr/>
          </p:nvSpPr>
          <p:spPr>
            <a:xfrm flipH="false" flipV="false" rot="0">
              <a:off x="0" y="0"/>
              <a:ext cx="10432415" cy="3878072"/>
            </a:xfrm>
            <a:custGeom>
              <a:avLst/>
              <a:gdLst/>
              <a:ahLst/>
              <a:cxnLst/>
              <a:rect r="r" b="b" t="t" l="l"/>
              <a:pathLst>
                <a:path h="3878072" w="10432415">
                  <a:moveTo>
                    <a:pt x="0" y="0"/>
                  </a:moveTo>
                  <a:lnTo>
                    <a:pt x="10432415" y="0"/>
                  </a:lnTo>
                  <a:lnTo>
                    <a:pt x="10432415" y="3878072"/>
                  </a:lnTo>
                  <a:lnTo>
                    <a:pt x="0" y="3878072"/>
                  </a:lnTo>
                  <a:lnTo>
                    <a:pt x="0" y="0"/>
                  </a:lnTo>
                  <a:close/>
                </a:path>
              </a:pathLst>
            </a:custGeom>
            <a:blipFill>
              <a:blip r:embed="rId2"/>
              <a:stretch>
                <a:fillRect l="-723" t="-1285" r="-2559" b="-82044"/>
              </a:stretch>
            </a:blipFill>
          </p:spPr>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82027" y="581573"/>
            <a:ext cx="11523945" cy="1323975"/>
          </a:xfrm>
          <a:prstGeom prst="rect">
            <a:avLst/>
          </a:prstGeom>
        </p:spPr>
        <p:txBody>
          <a:bodyPr anchor="t" rtlCol="false" tIns="0" lIns="0" bIns="0" rIns="0">
            <a:spAutoFit/>
          </a:bodyPr>
          <a:lstStyle/>
          <a:p>
            <a:pPr algn="l">
              <a:lnSpc>
                <a:spcPts val="10125"/>
              </a:lnSpc>
            </a:pPr>
            <a:r>
              <a:rPr lang="en-US" sz="8437">
                <a:solidFill>
                  <a:srgbClr val="000000"/>
                </a:solidFill>
                <a:latin typeface="Arimo"/>
                <a:ea typeface="Arimo"/>
                <a:cs typeface="Arimo"/>
                <a:sym typeface="Arimo"/>
              </a:rPr>
              <a:t>Polynomial regression</a:t>
            </a:r>
          </a:p>
        </p:txBody>
      </p:sp>
      <p:sp>
        <p:nvSpPr>
          <p:cNvPr name="TextBox 3" id="3"/>
          <p:cNvSpPr txBox="true"/>
          <p:nvPr/>
        </p:nvSpPr>
        <p:spPr>
          <a:xfrm rot="0">
            <a:off x="1028700" y="2724710"/>
            <a:ext cx="7058150" cy="5954645"/>
          </a:xfrm>
          <a:prstGeom prst="rect">
            <a:avLst/>
          </a:prstGeom>
        </p:spPr>
        <p:txBody>
          <a:bodyPr anchor="t" rtlCol="false" tIns="0" lIns="0" bIns="0" rIns="0">
            <a:spAutoFit/>
          </a:bodyPr>
          <a:lstStyle/>
          <a:p>
            <a:pPr algn="l" marL="534510" indent="-267255" lvl="1">
              <a:lnSpc>
                <a:spcPts val="5257"/>
              </a:lnSpc>
              <a:buFont typeface="Arial"/>
              <a:buChar char="•"/>
            </a:pPr>
            <a:r>
              <a:rPr lang="en-US" sz="2953">
                <a:solidFill>
                  <a:srgbClr val="000000"/>
                </a:solidFill>
                <a:latin typeface="Georgia"/>
                <a:ea typeface="Georgia"/>
                <a:cs typeface="Georgia"/>
                <a:sym typeface="Georgia"/>
              </a:rPr>
              <a:t>Polynomial</a:t>
            </a:r>
            <a:r>
              <a:rPr lang="en-US" b="true" sz="2953">
                <a:solidFill>
                  <a:srgbClr val="000000"/>
                </a:solidFill>
                <a:latin typeface="Georgia Bold"/>
                <a:ea typeface="Georgia Bold"/>
                <a:cs typeface="Georgia Bold"/>
                <a:sym typeface="Georgia Bold"/>
              </a:rPr>
              <a:t> </a:t>
            </a:r>
            <a:r>
              <a:rPr lang="en-US" sz="2953">
                <a:solidFill>
                  <a:srgbClr val="000000"/>
                </a:solidFill>
                <a:latin typeface="Georgia"/>
                <a:ea typeface="Georgia"/>
                <a:cs typeface="Georgia"/>
                <a:sym typeface="Georgia"/>
              </a:rPr>
              <a:t>Regression</a:t>
            </a:r>
            <a:r>
              <a:rPr lang="en-US" b="true" sz="2953">
                <a:solidFill>
                  <a:srgbClr val="000000"/>
                </a:solidFill>
                <a:latin typeface="Georgia Bold"/>
                <a:ea typeface="Georgia Bold"/>
                <a:cs typeface="Georgia Bold"/>
                <a:sym typeface="Georgia Bold"/>
              </a:rPr>
              <a:t> </a:t>
            </a:r>
            <a:r>
              <a:rPr lang="en-US" sz="2953">
                <a:solidFill>
                  <a:srgbClr val="000000"/>
                </a:solidFill>
                <a:latin typeface="Georgia"/>
                <a:ea typeface="Georgia"/>
                <a:cs typeface="Georgia"/>
                <a:sym typeface="Georgia"/>
              </a:rPr>
              <a:t>is a form of linear regression in which the relationship between the independent variable x and dependent variable y is modelled as an </a:t>
            </a:r>
            <a:r>
              <a:rPr lang="en-US" sz="2953" i="true">
                <a:solidFill>
                  <a:srgbClr val="000000"/>
                </a:solidFill>
                <a:latin typeface="Georgia Italics"/>
                <a:ea typeface="Georgia Italics"/>
                <a:cs typeface="Georgia Italics"/>
                <a:sym typeface="Georgia Italics"/>
              </a:rPr>
              <a:t>nth </a:t>
            </a:r>
            <a:r>
              <a:rPr lang="en-US" sz="2953">
                <a:solidFill>
                  <a:srgbClr val="000000"/>
                </a:solidFill>
                <a:latin typeface="Georgia"/>
                <a:ea typeface="Georgia"/>
                <a:cs typeface="Georgia"/>
                <a:sym typeface="Georgia"/>
              </a:rPr>
              <a:t>degree polynomial. Polynomial regression fits a nonlinear relationship between the value of x and the corresponding conditional mean of y, denoted E(y |x)</a:t>
            </a:r>
          </a:p>
        </p:txBody>
      </p:sp>
      <p:grpSp>
        <p:nvGrpSpPr>
          <p:cNvPr name="Group 4" id="4"/>
          <p:cNvGrpSpPr/>
          <p:nvPr/>
        </p:nvGrpSpPr>
        <p:grpSpPr>
          <a:xfrm rot="0">
            <a:off x="8863750" y="2690030"/>
            <a:ext cx="8681859" cy="5555392"/>
            <a:chOff x="0" y="0"/>
            <a:chExt cx="10530370" cy="6738226"/>
          </a:xfrm>
        </p:grpSpPr>
        <p:sp>
          <p:nvSpPr>
            <p:cNvPr name="Freeform 5" id="5" descr="statrd9.gif"/>
            <p:cNvSpPr/>
            <p:nvPr/>
          </p:nvSpPr>
          <p:spPr>
            <a:xfrm flipH="false" flipV="false" rot="0">
              <a:off x="0" y="0"/>
              <a:ext cx="10530332" cy="6738239"/>
            </a:xfrm>
            <a:custGeom>
              <a:avLst/>
              <a:gdLst/>
              <a:ahLst/>
              <a:cxnLst/>
              <a:rect r="r" b="b" t="t" l="l"/>
              <a:pathLst>
                <a:path h="6738239" w="10530332">
                  <a:moveTo>
                    <a:pt x="0" y="0"/>
                  </a:moveTo>
                  <a:lnTo>
                    <a:pt x="10530332" y="0"/>
                  </a:lnTo>
                  <a:lnTo>
                    <a:pt x="10530332" y="6738239"/>
                  </a:lnTo>
                  <a:lnTo>
                    <a:pt x="0" y="6738239"/>
                  </a:lnTo>
                  <a:lnTo>
                    <a:pt x="0" y="0"/>
                  </a:lnTo>
                  <a:close/>
                </a:path>
              </a:pathLst>
            </a:custGeom>
            <a:blipFill>
              <a:blip r:embed="rId2"/>
              <a:stretch>
                <a:fillRect l="-68" t="0" r="-68"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82027" y="581573"/>
            <a:ext cx="11523945" cy="1323975"/>
          </a:xfrm>
          <a:prstGeom prst="rect">
            <a:avLst/>
          </a:prstGeom>
        </p:spPr>
        <p:txBody>
          <a:bodyPr anchor="t" rtlCol="false" tIns="0" lIns="0" bIns="0" rIns="0">
            <a:spAutoFit/>
          </a:bodyPr>
          <a:lstStyle/>
          <a:p>
            <a:pPr algn="l">
              <a:lnSpc>
                <a:spcPts val="10125"/>
              </a:lnSpc>
            </a:pPr>
            <a:r>
              <a:rPr lang="en-US" sz="8437">
                <a:solidFill>
                  <a:srgbClr val="000000"/>
                </a:solidFill>
                <a:latin typeface="Arimo"/>
                <a:ea typeface="Arimo"/>
                <a:cs typeface="Arimo"/>
                <a:sym typeface="Arimo"/>
              </a:rPr>
              <a:t>Polynomial regression</a:t>
            </a:r>
          </a:p>
        </p:txBody>
      </p:sp>
      <p:grpSp>
        <p:nvGrpSpPr>
          <p:cNvPr name="Group 3" id="3"/>
          <p:cNvGrpSpPr/>
          <p:nvPr/>
        </p:nvGrpSpPr>
        <p:grpSpPr>
          <a:xfrm rot="0">
            <a:off x="2442403" y="2624872"/>
            <a:ext cx="10982354" cy="7055768"/>
            <a:chOff x="0" y="0"/>
            <a:chExt cx="14643138" cy="9407690"/>
          </a:xfrm>
        </p:grpSpPr>
        <p:sp>
          <p:nvSpPr>
            <p:cNvPr name="Freeform 4" id="4"/>
            <p:cNvSpPr/>
            <p:nvPr/>
          </p:nvSpPr>
          <p:spPr>
            <a:xfrm flipH="false" flipV="false" rot="0">
              <a:off x="0" y="0"/>
              <a:ext cx="14643100" cy="9407652"/>
            </a:xfrm>
            <a:custGeom>
              <a:avLst/>
              <a:gdLst/>
              <a:ahLst/>
              <a:cxnLst/>
              <a:rect r="r" b="b" t="t" l="l"/>
              <a:pathLst>
                <a:path h="9407652" w="14643100">
                  <a:moveTo>
                    <a:pt x="0" y="0"/>
                  </a:moveTo>
                  <a:lnTo>
                    <a:pt x="14643100" y="0"/>
                  </a:lnTo>
                  <a:lnTo>
                    <a:pt x="14643100" y="9407652"/>
                  </a:lnTo>
                  <a:lnTo>
                    <a:pt x="0" y="9407652"/>
                  </a:lnTo>
                  <a:lnTo>
                    <a:pt x="0" y="0"/>
                  </a:lnTo>
                  <a:close/>
                </a:path>
              </a:pathLst>
            </a:custGeom>
            <a:blipFill>
              <a:blip r:embed="rId2"/>
              <a:stretch>
                <a:fillRect l="0" t="0" r="0" b="0"/>
              </a:stretch>
            </a:blipFill>
          </p:spPr>
        </p:sp>
      </p:grpSp>
    </p:spTree>
  </p:cSld>
  <p:clrMapOvr>
    <a:masterClrMapping/>
  </p:clrMapOvr>
</p:sld>
</file>

<file path=ppt/slides/slide2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339863" y="574094"/>
            <a:ext cx="11608275" cy="1266825"/>
          </a:xfrm>
          <a:prstGeom prst="rect">
            <a:avLst/>
          </a:prstGeom>
        </p:spPr>
        <p:txBody>
          <a:bodyPr anchor="t" rtlCol="false" tIns="0" lIns="0" bIns="0" rIns="0">
            <a:spAutoFit/>
          </a:bodyPr>
          <a:lstStyle/>
          <a:p>
            <a:pPr algn="l">
              <a:lnSpc>
                <a:spcPts val="9791"/>
              </a:lnSpc>
            </a:pPr>
            <a:r>
              <a:rPr lang="en-US" sz="8159">
                <a:solidFill>
                  <a:srgbClr val="000000"/>
                </a:solidFill>
                <a:latin typeface="Arimo"/>
                <a:ea typeface="Arimo"/>
                <a:cs typeface="Arimo"/>
                <a:sym typeface="Arimo"/>
              </a:rPr>
              <a:t>Decision tree regression</a:t>
            </a:r>
          </a:p>
        </p:txBody>
      </p:sp>
      <p:sp>
        <p:nvSpPr>
          <p:cNvPr name="TextBox 3" id="3"/>
          <p:cNvSpPr txBox="true"/>
          <p:nvPr/>
        </p:nvSpPr>
        <p:spPr>
          <a:xfrm rot="0">
            <a:off x="1862251" y="2237716"/>
            <a:ext cx="13680434" cy="7486650"/>
          </a:xfrm>
          <a:prstGeom prst="rect">
            <a:avLst/>
          </a:prstGeom>
        </p:spPr>
        <p:txBody>
          <a:bodyPr anchor="t" rtlCol="false" tIns="0" lIns="0" bIns="0" rIns="0">
            <a:spAutoFit/>
          </a:bodyPr>
          <a:lstStyle/>
          <a:p>
            <a:pPr algn="just">
              <a:lnSpc>
                <a:spcPts val="5400"/>
              </a:lnSpc>
            </a:pPr>
            <a:r>
              <a:rPr lang="en-US" sz="3000">
                <a:solidFill>
                  <a:srgbClr val="000000"/>
                </a:solidFill>
                <a:latin typeface="Century Gothic Paneuropean"/>
                <a:ea typeface="Century Gothic Paneuropean"/>
                <a:cs typeface="Century Gothic Paneuropean"/>
                <a:sym typeface="Century Gothic Paneuropean"/>
              </a:rPr>
              <a:t>Decision tree builds regression models in the form of a tree structure. It breaks down a dataset into smaller and smaller subsets while at the same time an associated decision tree is incrementally developed. The final result is a tree with decision nodes and leaf nodes. A decision node (e.g., Outlook) has two or more branches (e.g., Sunny, Overcast and Rainy), each representing values for the attribute tested. Leaf node (e.g., Hours Played) represents a decision on the numerical target. The topmost decision node in a tree which corresponds to the best predictor called root node. Decision trees can handle both categorical and numerical data. </a:t>
            </a:r>
          </a:p>
          <a:p>
            <a:pPr algn="just">
              <a:lnSpc>
                <a:spcPts val="5400"/>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39863" y="574094"/>
            <a:ext cx="11608275" cy="1266825"/>
          </a:xfrm>
          <a:prstGeom prst="rect">
            <a:avLst/>
          </a:prstGeom>
        </p:spPr>
        <p:txBody>
          <a:bodyPr anchor="t" rtlCol="false" tIns="0" lIns="0" bIns="0" rIns="0">
            <a:spAutoFit/>
          </a:bodyPr>
          <a:lstStyle/>
          <a:p>
            <a:pPr algn="l">
              <a:lnSpc>
                <a:spcPts val="9791"/>
              </a:lnSpc>
            </a:pPr>
            <a:r>
              <a:rPr lang="en-US" sz="8159">
                <a:solidFill>
                  <a:srgbClr val="000000"/>
                </a:solidFill>
                <a:latin typeface="Arimo"/>
                <a:ea typeface="Arimo"/>
                <a:cs typeface="Arimo"/>
                <a:sym typeface="Arimo"/>
              </a:rPr>
              <a:t>Decision tree regression</a:t>
            </a:r>
          </a:p>
        </p:txBody>
      </p:sp>
      <p:grpSp>
        <p:nvGrpSpPr>
          <p:cNvPr name="Group 3" id="3"/>
          <p:cNvGrpSpPr/>
          <p:nvPr/>
        </p:nvGrpSpPr>
        <p:grpSpPr>
          <a:xfrm rot="0">
            <a:off x="1434148" y="2867209"/>
            <a:ext cx="14998196" cy="5440882"/>
            <a:chOff x="0" y="0"/>
            <a:chExt cx="17667211" cy="6409118"/>
          </a:xfrm>
        </p:grpSpPr>
        <p:sp>
          <p:nvSpPr>
            <p:cNvPr name="Freeform 4" id="4" descr="Decision_tree_r1.png"/>
            <p:cNvSpPr/>
            <p:nvPr/>
          </p:nvSpPr>
          <p:spPr>
            <a:xfrm flipH="false" flipV="false" rot="0">
              <a:off x="0" y="0"/>
              <a:ext cx="17667224" cy="6409055"/>
            </a:xfrm>
            <a:custGeom>
              <a:avLst/>
              <a:gdLst/>
              <a:ahLst/>
              <a:cxnLst/>
              <a:rect r="r" b="b" t="t" l="l"/>
              <a:pathLst>
                <a:path h="6409055" w="17667224">
                  <a:moveTo>
                    <a:pt x="0" y="0"/>
                  </a:moveTo>
                  <a:lnTo>
                    <a:pt x="17667224" y="0"/>
                  </a:lnTo>
                  <a:lnTo>
                    <a:pt x="17667224" y="6409055"/>
                  </a:lnTo>
                  <a:lnTo>
                    <a:pt x="0" y="6409055"/>
                  </a:lnTo>
                  <a:lnTo>
                    <a:pt x="0" y="0"/>
                  </a:lnTo>
                  <a:close/>
                </a:path>
              </a:pathLst>
            </a:custGeom>
            <a:blipFill>
              <a:blip r:embed="rId2"/>
              <a:stretch>
                <a:fillRect l="-126" t="0" r="-126" b="0"/>
              </a:stretch>
            </a:blipFill>
          </p:spPr>
        </p:sp>
      </p:grpSp>
    </p:spTree>
  </p:cSld>
  <p:clrMapOvr>
    <a:masterClrMapping/>
  </p:clrMapOvr>
</p:sld>
</file>

<file path=ppt/slides/slide2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339863" y="574094"/>
            <a:ext cx="11608275" cy="1266825"/>
          </a:xfrm>
          <a:prstGeom prst="rect">
            <a:avLst/>
          </a:prstGeom>
        </p:spPr>
        <p:txBody>
          <a:bodyPr anchor="t" rtlCol="false" tIns="0" lIns="0" bIns="0" rIns="0">
            <a:spAutoFit/>
          </a:bodyPr>
          <a:lstStyle/>
          <a:p>
            <a:pPr algn="l">
              <a:lnSpc>
                <a:spcPts val="9791"/>
              </a:lnSpc>
            </a:pPr>
            <a:r>
              <a:rPr lang="en-US" sz="8159">
                <a:solidFill>
                  <a:srgbClr val="000000"/>
                </a:solidFill>
                <a:latin typeface="Arimo"/>
                <a:ea typeface="Arimo"/>
                <a:cs typeface="Arimo"/>
                <a:sym typeface="Arimo"/>
              </a:rPr>
              <a:t>Decision tree regression</a:t>
            </a:r>
          </a:p>
        </p:txBody>
      </p:sp>
      <p:sp>
        <p:nvSpPr>
          <p:cNvPr name="TextBox 3" id="3"/>
          <p:cNvSpPr txBox="true"/>
          <p:nvPr/>
        </p:nvSpPr>
        <p:spPr>
          <a:xfrm rot="0">
            <a:off x="1028700" y="2084450"/>
            <a:ext cx="15178745" cy="7768971"/>
          </a:xfrm>
          <a:prstGeom prst="rect">
            <a:avLst/>
          </a:prstGeom>
        </p:spPr>
        <p:txBody>
          <a:bodyPr anchor="t" rtlCol="false" tIns="0" lIns="0" bIns="0" rIns="0">
            <a:spAutoFit/>
          </a:bodyPr>
          <a:lstStyle/>
          <a:p>
            <a:pPr algn="just">
              <a:lnSpc>
                <a:spcPts val="6156"/>
              </a:lnSpc>
            </a:pPr>
            <a:r>
              <a:rPr lang="en-US" sz="3420">
                <a:solidFill>
                  <a:srgbClr val="000000"/>
                </a:solidFill>
                <a:latin typeface="Arimo"/>
                <a:ea typeface="Arimo"/>
                <a:cs typeface="Arimo"/>
                <a:sym typeface="Arimo"/>
              </a:rPr>
              <a:t>Decision tree regression observes features of an object and trains a model in the structure of a tree to predict data in the future to produce meaningful continuous output. Continuous output means that the output/result is not discrete, i.e., it is not represented just by a discrete, known set of numbers or values. </a:t>
            </a:r>
          </a:p>
          <a:p>
            <a:pPr algn="just">
              <a:lnSpc>
                <a:spcPts val="6156"/>
              </a:lnSpc>
            </a:pPr>
            <a:r>
              <a:rPr lang="en-US" b="true" sz="3420" i="true" u="sng">
                <a:solidFill>
                  <a:srgbClr val="000000"/>
                </a:solidFill>
                <a:latin typeface="Arimo Bold Italics"/>
                <a:ea typeface="Arimo Bold Italics"/>
                <a:cs typeface="Arimo Bold Italics"/>
                <a:sym typeface="Arimo Bold Italics"/>
              </a:rPr>
              <a:t>Discrete output example</a:t>
            </a:r>
            <a:r>
              <a:rPr lang="en-US" b="true" sz="3420">
                <a:solidFill>
                  <a:srgbClr val="000000"/>
                </a:solidFill>
                <a:latin typeface="Arimo Bold"/>
                <a:ea typeface="Arimo Bold"/>
                <a:cs typeface="Arimo Bold"/>
                <a:sym typeface="Arimo Bold"/>
              </a:rPr>
              <a:t>:</a:t>
            </a:r>
            <a:r>
              <a:rPr lang="en-US" sz="3420">
                <a:solidFill>
                  <a:srgbClr val="000000"/>
                </a:solidFill>
                <a:latin typeface="Arimo"/>
                <a:ea typeface="Arimo"/>
                <a:cs typeface="Arimo"/>
                <a:sym typeface="Arimo"/>
              </a:rPr>
              <a:t> A weather prediction model that predicts whether or not there’ll be rain in a particular day.</a:t>
            </a:r>
          </a:p>
          <a:p>
            <a:pPr algn="just">
              <a:lnSpc>
                <a:spcPts val="6156"/>
              </a:lnSpc>
            </a:pPr>
            <a:r>
              <a:rPr lang="en-US" b="true" sz="3420" i="true" u="sng">
                <a:solidFill>
                  <a:srgbClr val="000000"/>
                </a:solidFill>
                <a:latin typeface="Arimo Bold Italics"/>
                <a:ea typeface="Arimo Bold Italics"/>
                <a:cs typeface="Arimo Bold Italics"/>
                <a:sym typeface="Arimo Bold Italics"/>
              </a:rPr>
              <a:t>Continuous output example</a:t>
            </a:r>
            <a:r>
              <a:rPr lang="en-US" b="true" sz="3420">
                <a:solidFill>
                  <a:srgbClr val="000000"/>
                </a:solidFill>
                <a:latin typeface="Arimo Bold"/>
                <a:ea typeface="Arimo Bold"/>
                <a:cs typeface="Arimo Bold"/>
                <a:sym typeface="Arimo Bold"/>
              </a:rPr>
              <a:t>:</a:t>
            </a:r>
            <a:r>
              <a:rPr lang="en-US" sz="3420">
                <a:solidFill>
                  <a:srgbClr val="000000"/>
                </a:solidFill>
                <a:latin typeface="Arimo"/>
                <a:ea typeface="Arimo"/>
                <a:cs typeface="Arimo"/>
                <a:sym typeface="Arimo"/>
              </a:rPr>
              <a:t> A profit prediction model that states the probable profit that can be generated from the sale of a product.</a:t>
            </a:r>
          </a:p>
          <a:p>
            <a:pPr algn="just">
              <a:lnSpc>
                <a:spcPts val="6156"/>
              </a:lnSpc>
            </a:pPr>
          </a:p>
        </p:txBody>
      </p:sp>
    </p:spTree>
  </p:cSld>
  <p:clrMapOvr>
    <a:masterClrMapping/>
  </p:clrMapOvr>
</p:sld>
</file>

<file path=ppt/slides/slide2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382032" y="285036"/>
            <a:ext cx="11523945" cy="1397098"/>
          </a:xfrm>
          <a:prstGeom prst="rect">
            <a:avLst/>
          </a:prstGeom>
        </p:spPr>
        <p:txBody>
          <a:bodyPr anchor="t" rtlCol="false" tIns="0" lIns="0" bIns="0" rIns="0">
            <a:spAutoFit/>
          </a:bodyPr>
          <a:lstStyle/>
          <a:p>
            <a:pPr algn="l">
              <a:lnSpc>
                <a:spcPts val="8640"/>
              </a:lnSpc>
            </a:pPr>
            <a:r>
              <a:rPr lang="en-US" sz="7200">
                <a:solidFill>
                  <a:srgbClr val="000000"/>
                </a:solidFill>
                <a:latin typeface="Arimo"/>
                <a:ea typeface="Arimo"/>
                <a:cs typeface="Arimo"/>
                <a:sym typeface="Arimo"/>
              </a:rPr>
              <a:t>Random forest regression</a:t>
            </a:r>
          </a:p>
        </p:txBody>
      </p:sp>
      <p:sp>
        <p:nvSpPr>
          <p:cNvPr name="TextBox 3" id="3"/>
          <p:cNvSpPr txBox="true"/>
          <p:nvPr/>
        </p:nvSpPr>
        <p:spPr>
          <a:xfrm rot="0">
            <a:off x="644538" y="1558309"/>
            <a:ext cx="16614762" cy="6384035"/>
          </a:xfrm>
          <a:prstGeom prst="rect">
            <a:avLst/>
          </a:prstGeom>
        </p:spPr>
        <p:txBody>
          <a:bodyPr anchor="t" rtlCol="false" tIns="0" lIns="0" bIns="0" rIns="0">
            <a:spAutoFit/>
          </a:bodyPr>
          <a:lstStyle/>
          <a:p>
            <a:pPr algn="just">
              <a:lnSpc>
                <a:spcPts val="5652"/>
              </a:lnSpc>
            </a:pPr>
            <a:r>
              <a:rPr lang="en-US" sz="3600">
                <a:solidFill>
                  <a:srgbClr val="000000"/>
                </a:solidFill>
                <a:latin typeface="Century Gothic Paneuropean"/>
                <a:ea typeface="Century Gothic Paneuropean"/>
                <a:cs typeface="Century Gothic Paneuropean"/>
                <a:sym typeface="Century Gothic Paneuropean"/>
              </a:rPr>
              <a:t>The Random Forest is one of the most effective machine learning models for predictive analytics, making it an industrial workhorse for machine learning.</a:t>
            </a:r>
          </a:p>
          <a:p>
            <a:pPr algn="just">
              <a:lnSpc>
                <a:spcPts val="5652"/>
              </a:lnSpc>
            </a:pPr>
            <a:r>
              <a:rPr lang="en-US" sz="3600">
                <a:solidFill>
                  <a:srgbClr val="000000"/>
                </a:solidFill>
                <a:latin typeface="Century Gothic Paneuropean"/>
                <a:ea typeface="Century Gothic Paneuropean"/>
                <a:cs typeface="Century Gothic Paneuropean"/>
                <a:sym typeface="Century Gothic Paneuropean"/>
              </a:rPr>
              <a:t>The random forest model is a type of additive model that makes predictions by combining decisions from a sequence of base models. Here, each base classifier is a simple decision tree. This broad technique of using multiple models to obtain better predictive performance is called model ensembling. In random forests, all the base models are constructed independently using a different subsample of the data</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382032" y="313611"/>
            <a:ext cx="4324417" cy="737073"/>
          </a:xfrm>
          <a:prstGeom prst="rect">
            <a:avLst/>
          </a:prstGeom>
        </p:spPr>
        <p:txBody>
          <a:bodyPr anchor="t" rtlCol="false" tIns="0" lIns="0" bIns="0" rIns="0">
            <a:spAutoFit/>
          </a:bodyPr>
          <a:lstStyle/>
          <a:p>
            <a:pPr algn="l">
              <a:lnSpc>
                <a:spcPts val="6966"/>
              </a:lnSpc>
            </a:pPr>
            <a:r>
              <a:rPr lang="en-US" sz="5805">
                <a:solidFill>
                  <a:srgbClr val="000000"/>
                </a:solidFill>
                <a:latin typeface="Century Gothic Paneuropean"/>
                <a:ea typeface="Century Gothic Paneuropean"/>
                <a:cs typeface="Century Gothic Paneuropean"/>
                <a:sym typeface="Century Gothic Paneuropean"/>
              </a:rPr>
              <a:t>Approach :</a:t>
            </a:r>
          </a:p>
        </p:txBody>
      </p:sp>
      <p:sp>
        <p:nvSpPr>
          <p:cNvPr name="TextBox 3" id="3"/>
          <p:cNvSpPr txBox="true"/>
          <p:nvPr/>
        </p:nvSpPr>
        <p:spPr>
          <a:xfrm rot="0">
            <a:off x="1431118" y="1325762"/>
            <a:ext cx="5442823" cy="8269367"/>
          </a:xfrm>
          <a:prstGeom prst="rect">
            <a:avLst/>
          </a:prstGeom>
        </p:spPr>
        <p:txBody>
          <a:bodyPr anchor="t" rtlCol="false" tIns="0" lIns="0" bIns="0" rIns="0">
            <a:spAutoFit/>
          </a:bodyPr>
          <a:lstStyle/>
          <a:p>
            <a:pPr algn="l" marL="511629" indent="-255815" lvl="1">
              <a:lnSpc>
                <a:spcPts val="4851"/>
              </a:lnSpc>
              <a:buFont typeface="Arial"/>
              <a:buChar char="•"/>
            </a:pPr>
            <a:r>
              <a:rPr lang="en-US" sz="2237">
                <a:solidFill>
                  <a:srgbClr val="000000">
                    <a:alpha val="83922"/>
                  </a:srgbClr>
                </a:solidFill>
                <a:latin typeface="Century Gothic Paneuropean"/>
                <a:ea typeface="Century Gothic Paneuropean"/>
                <a:cs typeface="Century Gothic Paneuropean"/>
                <a:sym typeface="Century Gothic Paneuropean"/>
              </a:rPr>
              <a:t>Pick at random K data points from the training set.</a:t>
            </a:r>
          </a:p>
          <a:p>
            <a:pPr algn="l" marL="511629" indent="-255815" lvl="1">
              <a:lnSpc>
                <a:spcPts val="4851"/>
              </a:lnSpc>
              <a:buFont typeface="Arial"/>
              <a:buChar char="•"/>
            </a:pPr>
            <a:r>
              <a:rPr lang="en-US" sz="2237">
                <a:solidFill>
                  <a:srgbClr val="000000">
                    <a:alpha val="83922"/>
                  </a:srgbClr>
                </a:solidFill>
                <a:latin typeface="Century Gothic Paneuropean"/>
                <a:ea typeface="Century Gothic Paneuropean"/>
                <a:cs typeface="Century Gothic Paneuropean"/>
                <a:sym typeface="Century Gothic Paneuropean"/>
              </a:rPr>
              <a:t>Build the decision tree associated with those K data points.</a:t>
            </a:r>
          </a:p>
          <a:p>
            <a:pPr algn="l" marL="511629" indent="-255815" lvl="1">
              <a:lnSpc>
                <a:spcPts val="4851"/>
              </a:lnSpc>
              <a:buFont typeface="Arial"/>
              <a:buChar char="•"/>
            </a:pPr>
            <a:r>
              <a:rPr lang="en-US" sz="2237">
                <a:solidFill>
                  <a:srgbClr val="000000">
                    <a:alpha val="83922"/>
                  </a:srgbClr>
                </a:solidFill>
                <a:latin typeface="Century Gothic Paneuropean"/>
                <a:ea typeface="Century Gothic Paneuropean"/>
                <a:cs typeface="Century Gothic Paneuropean"/>
                <a:sym typeface="Century Gothic Paneuropean"/>
              </a:rPr>
              <a:t>Choose the number Ntree of trees you want to build and repeat step 1 &amp; 2.</a:t>
            </a:r>
          </a:p>
          <a:p>
            <a:pPr algn="l" marL="511629" indent="-255815" lvl="1">
              <a:lnSpc>
                <a:spcPts val="4851"/>
              </a:lnSpc>
              <a:buFont typeface="Arial"/>
              <a:buChar char="•"/>
            </a:pPr>
            <a:r>
              <a:rPr lang="en-US" sz="2237">
                <a:solidFill>
                  <a:srgbClr val="000000">
                    <a:alpha val="83922"/>
                  </a:srgbClr>
                </a:solidFill>
                <a:latin typeface="Century Gothic Paneuropean"/>
                <a:ea typeface="Century Gothic Paneuropean"/>
                <a:cs typeface="Century Gothic Paneuropean"/>
                <a:sym typeface="Century Gothic Paneuropean"/>
              </a:rPr>
              <a:t>For a new data point, make each one of your Ntree trees predict the value of Y for the data point, and assign the new data point the average across all of the predicted Y values.</a:t>
            </a:r>
          </a:p>
        </p:txBody>
      </p:sp>
      <p:grpSp>
        <p:nvGrpSpPr>
          <p:cNvPr name="Group 4" id="4"/>
          <p:cNvGrpSpPr/>
          <p:nvPr/>
        </p:nvGrpSpPr>
        <p:grpSpPr>
          <a:xfrm rot="0">
            <a:off x="9295047" y="2437411"/>
            <a:ext cx="7782592" cy="4542377"/>
            <a:chOff x="0" y="0"/>
            <a:chExt cx="10376789" cy="6056503"/>
          </a:xfrm>
        </p:grpSpPr>
        <p:sp>
          <p:nvSpPr>
            <p:cNvPr name="Freeform 5" id="5" descr="random forest.png"/>
            <p:cNvSpPr/>
            <p:nvPr/>
          </p:nvSpPr>
          <p:spPr>
            <a:xfrm flipH="false" flipV="false" rot="0">
              <a:off x="0" y="0"/>
              <a:ext cx="10376789" cy="6056503"/>
            </a:xfrm>
            <a:custGeom>
              <a:avLst/>
              <a:gdLst/>
              <a:ahLst/>
              <a:cxnLst/>
              <a:rect r="r" b="b" t="t" l="l"/>
              <a:pathLst>
                <a:path h="6056503" w="10376789">
                  <a:moveTo>
                    <a:pt x="0" y="0"/>
                  </a:moveTo>
                  <a:lnTo>
                    <a:pt x="10376789" y="0"/>
                  </a:lnTo>
                  <a:lnTo>
                    <a:pt x="10376789" y="6056503"/>
                  </a:lnTo>
                  <a:lnTo>
                    <a:pt x="0" y="6056503"/>
                  </a:lnTo>
                  <a:lnTo>
                    <a:pt x="0" y="0"/>
                  </a:lnTo>
                  <a:close/>
                </a:path>
              </a:pathLst>
            </a:custGeom>
            <a:blipFill>
              <a:blip r:embed="rId2"/>
              <a:stretch>
                <a:fillRect l="-87" t="0" r="-87" b="0"/>
              </a:stretch>
            </a:blipFill>
          </p:spPr>
        </p:sp>
      </p:gr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62998" y="339283"/>
            <a:ext cx="11523345" cy="962025"/>
          </a:xfrm>
          <a:prstGeom prst="rect">
            <a:avLst/>
          </a:prstGeom>
        </p:spPr>
        <p:txBody>
          <a:bodyPr anchor="t" rtlCol="false" tIns="0" lIns="0" bIns="0" rIns="0">
            <a:spAutoFit/>
          </a:bodyPr>
          <a:lstStyle/>
          <a:p>
            <a:pPr algn="l">
              <a:lnSpc>
                <a:spcPts val="7559"/>
              </a:lnSpc>
            </a:pPr>
            <a:r>
              <a:rPr lang="en-US" sz="6300">
                <a:solidFill>
                  <a:srgbClr val="000000"/>
                </a:solidFill>
                <a:latin typeface="Georgia"/>
                <a:ea typeface="Georgia"/>
                <a:cs typeface="Georgia"/>
                <a:sym typeface="Georgia"/>
              </a:rPr>
              <a:t>Pros and cons</a:t>
            </a:r>
          </a:p>
        </p:txBody>
      </p:sp>
      <p:graphicFrame>
        <p:nvGraphicFramePr>
          <p:cNvPr name="Table 3" id="3"/>
          <p:cNvGraphicFramePr>
            <a:graphicFrameLocks noGrp="true"/>
          </p:cNvGraphicFramePr>
          <p:nvPr/>
        </p:nvGraphicFramePr>
        <p:xfrm>
          <a:off x="2180970" y="1869719"/>
          <a:ext cx="14889254" cy="7616077"/>
        </p:xfrm>
        <a:graphic>
          <a:graphicData uri="http://schemas.openxmlformats.org/drawingml/2006/table">
            <a:tbl>
              <a:tblPr/>
              <a:tblGrid>
                <a:gridCol w="4312014"/>
                <a:gridCol w="4270720"/>
                <a:gridCol w="6306520"/>
              </a:tblGrid>
              <a:tr h="1302601">
                <a:tc>
                  <a:txBody>
                    <a:bodyPr anchor="t" rtlCol="false"/>
                    <a:lstStyle/>
                    <a:p>
                      <a:pPr algn="l">
                        <a:lnSpc>
                          <a:spcPts val="2700"/>
                        </a:lnSpc>
                        <a:defRPr/>
                      </a:pPr>
                      <a:r>
                        <a:rPr lang="en-US" sz="2250">
                          <a:solidFill>
                            <a:srgbClr val="000000"/>
                          </a:solidFill>
                          <a:latin typeface="Helvetica"/>
                          <a:ea typeface="Helvetica"/>
                          <a:cs typeface="Helvetica"/>
                          <a:sym typeface="Helvetica"/>
                        </a:rPr>
                        <a:t>Regression model</a:t>
                      </a:r>
                      <a:endParaRPr lang="en-US" sz="1100"/>
                    </a:p>
                  </a:txBody>
                  <a:tcPr marL="35719" marR="35719" marT="35719" marB="35719" anchor="ctr">
                    <a:lnL cmpd="sng" algn="ctr" cap="flat" w="38100">
                      <a:solidFill>
                        <a:srgbClr val="004D8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38100">
                      <a:solidFill>
                        <a:srgbClr val="004D8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000000"/>
                          </a:solidFill>
                          <a:latin typeface="Helvetica"/>
                          <a:ea typeface="Helvetica"/>
                          <a:cs typeface="Helvetica"/>
                          <a:sym typeface="Helvetica"/>
                        </a:rPr>
                        <a:t>Pros</a:t>
                      </a:r>
                      <a:endParaRPr lang="en-US" sz="1100"/>
                    </a:p>
                  </a:txBody>
                  <a:tcPr marL="35719" marR="35719" marT="35719" marB="35719"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38100">
                      <a:solidFill>
                        <a:srgbClr val="004D8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000000"/>
                          </a:solidFill>
                          <a:latin typeface="Helvetica"/>
                          <a:ea typeface="Helvetica"/>
                          <a:cs typeface="Helvetica"/>
                          <a:sym typeface="Helvetica"/>
                        </a:rPr>
                        <a:t>Cons</a:t>
                      </a:r>
                      <a:endParaRPr lang="en-US" sz="1100"/>
                    </a:p>
                  </a:txBody>
                  <a:tcPr marL="35719" marR="35719" marT="35719" marB="35719" anchor="ctr">
                    <a:lnL cmpd="sng" algn="ctr" cap="flat" w="4762">
                      <a:solidFill>
                        <a:srgbClr val="000000"/>
                      </a:solidFill>
                      <a:prstDash val="solid"/>
                      <a:round/>
                      <a:headEnd type="none" w="med" len="med"/>
                      <a:tailEnd type="none" w="med" len="med"/>
                    </a:lnL>
                    <a:lnR cmpd="sng" algn="ctr" cap="flat" w="38100">
                      <a:solidFill>
                        <a:srgbClr val="004D80"/>
                      </a:solidFill>
                      <a:prstDash val="solid"/>
                      <a:round/>
                      <a:headEnd type="none" w="med" len="med"/>
                      <a:tailEnd type="none" w="med" len="med"/>
                    </a:lnR>
                    <a:lnT cmpd="sng" algn="ctr" cap="flat" w="38100">
                      <a:solidFill>
                        <a:srgbClr val="004D8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1232260">
                <a:tc>
                  <a:txBody>
                    <a:bodyPr anchor="t" rtlCol="false"/>
                    <a:lstStyle/>
                    <a:p>
                      <a:pPr algn="l">
                        <a:lnSpc>
                          <a:spcPts val="2700"/>
                        </a:lnSpc>
                        <a:defRPr/>
                      </a:pPr>
                      <a:r>
                        <a:rPr lang="en-US" sz="2250">
                          <a:solidFill>
                            <a:srgbClr val="000000"/>
                          </a:solidFill>
                          <a:latin typeface="Century Gothic Paneuropean"/>
                          <a:ea typeface="Century Gothic Paneuropean"/>
                          <a:cs typeface="Century Gothic Paneuropean"/>
                          <a:sym typeface="Century Gothic Paneuropean"/>
                        </a:rPr>
                        <a:t>Linear regression</a:t>
                      </a:r>
                      <a:endParaRPr lang="en-US" sz="1100"/>
                    </a:p>
                  </a:txBody>
                  <a:tcPr marL="35719" marR="35719" marT="35719" marB="35719" anchor="ctr">
                    <a:lnL cmpd="sng" algn="ctr" cap="flat" w="38100">
                      <a:solidFill>
                        <a:srgbClr val="004D80"/>
                      </a:solidFill>
                      <a:prstDash val="solid"/>
                      <a:round/>
                      <a:headEnd type="none" w="med" len="med"/>
                      <a:tailEnd type="none" w="med" len="med"/>
                    </a:lnL>
                    <a:lnR cmpd="sng" algn="ctr" cap="flat" w="12700">
                      <a:solidFill>
                        <a:srgbClr val="B8B8B8"/>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340"/>
                        </a:lnSpc>
                        <a:defRPr/>
                      </a:pPr>
                      <a:r>
                        <a:rPr lang="en-US" sz="1950">
                          <a:solidFill>
                            <a:srgbClr val="000000"/>
                          </a:solidFill>
                          <a:latin typeface="Century Gothic Paneuropean"/>
                          <a:ea typeface="Century Gothic Paneuropean"/>
                          <a:cs typeface="Century Gothic Paneuropean"/>
                          <a:sym typeface="Century Gothic Paneuropean"/>
                        </a:rPr>
                        <a:t>Works on any size of dataset, gives information about features.</a:t>
                      </a:r>
                      <a:endParaRPr lang="en-US" sz="1100"/>
                    </a:p>
                  </a:txBody>
                  <a:tcPr marL="35719" marR="35719" marT="35719" marB="35719" anchor="ctr">
                    <a:lnL cmpd="sng" algn="ctr" cap="flat" w="12700">
                      <a:solidFill>
                        <a:srgbClr val="B8B8B8"/>
                      </a:solidFill>
                      <a:prstDash val="solid"/>
                      <a:round/>
                      <a:headEnd type="none" w="med" len="med"/>
                      <a:tailEnd type="none" w="med" len="med"/>
                    </a:lnL>
                    <a:lnR cmpd="sng" algn="ctr" cap="flat" w="12700">
                      <a:solidFill>
                        <a:srgbClr val="B8B8B8"/>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700"/>
                        </a:lnSpc>
                        <a:defRPr/>
                      </a:pPr>
                      <a:r>
                        <a:rPr lang="en-US" sz="2250">
                          <a:solidFill>
                            <a:srgbClr val="000000"/>
                          </a:solidFill>
                          <a:latin typeface="Century Gothic Paneuropean"/>
                          <a:ea typeface="Century Gothic Paneuropean"/>
                          <a:cs typeface="Century Gothic Paneuropean"/>
                          <a:sym typeface="Century Gothic Paneuropean"/>
                        </a:rPr>
                        <a:t>The Linear regression assumptions.</a:t>
                      </a:r>
                      <a:endParaRPr lang="en-US" sz="1100"/>
                    </a:p>
                  </a:txBody>
                  <a:tcPr marL="35719" marR="35719" marT="35719" marB="35719" anchor="ctr">
                    <a:lnL cmpd="sng" algn="ctr" cap="flat" w="12700">
                      <a:solidFill>
                        <a:srgbClr val="B8B8B8"/>
                      </a:solidFill>
                      <a:prstDash val="solid"/>
                      <a:round/>
                      <a:headEnd type="none" w="med" len="med"/>
                      <a:tailEnd type="none" w="med" len="med"/>
                    </a:lnL>
                    <a:lnR cmpd="sng" algn="ctr" cap="flat" w="38100">
                      <a:solidFill>
                        <a:srgbClr val="004D8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1259538">
                <a:tc>
                  <a:txBody>
                    <a:bodyPr anchor="t" rtlCol="false"/>
                    <a:lstStyle/>
                    <a:p>
                      <a:pPr algn="l">
                        <a:lnSpc>
                          <a:spcPts val="2700"/>
                        </a:lnSpc>
                        <a:defRPr/>
                      </a:pPr>
                      <a:r>
                        <a:rPr lang="en-US" sz="2250">
                          <a:solidFill>
                            <a:srgbClr val="000000"/>
                          </a:solidFill>
                          <a:latin typeface="Century Gothic Paneuropean"/>
                          <a:ea typeface="Century Gothic Paneuropean"/>
                          <a:cs typeface="Century Gothic Paneuropean"/>
                          <a:sym typeface="Century Gothic Paneuropean"/>
                        </a:rPr>
                        <a:t>Polynomial regression</a:t>
                      </a:r>
                      <a:endParaRPr lang="en-US" sz="1100"/>
                    </a:p>
                  </a:txBody>
                  <a:tcPr marL="35719" marR="35719" marT="35719" marB="35719" anchor="ctr">
                    <a:lnL cmpd="sng" algn="ctr" cap="flat" w="38100">
                      <a:solidFill>
                        <a:srgbClr val="004D80"/>
                      </a:solidFill>
                      <a:prstDash val="solid"/>
                      <a:round/>
                      <a:headEnd type="none" w="med" len="med"/>
                      <a:tailEnd type="none" w="med" len="med"/>
                    </a:lnL>
                    <a:lnR cmpd="sng" algn="ctr" cap="flat" w="12700">
                      <a:solidFill>
                        <a:srgbClr val="B8B8B8"/>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340"/>
                        </a:lnSpc>
                        <a:defRPr/>
                      </a:pPr>
                      <a:r>
                        <a:rPr lang="en-US" sz="1950">
                          <a:solidFill>
                            <a:srgbClr val="000000"/>
                          </a:solidFill>
                          <a:latin typeface="Century Gothic Paneuropean"/>
                          <a:ea typeface="Century Gothic Paneuropean"/>
                          <a:cs typeface="Century Gothic Paneuropean"/>
                          <a:sym typeface="Century Gothic Paneuropean"/>
                        </a:rPr>
                        <a:t>Works on any size of dataset, works very well on non linear problems</a:t>
                      </a:r>
                      <a:endParaRPr lang="en-US" sz="1100"/>
                    </a:p>
                  </a:txBody>
                  <a:tcPr marL="35719" marR="35719" marT="35719" marB="35719" anchor="ctr">
                    <a:lnL cmpd="sng" algn="ctr" cap="flat" w="12700">
                      <a:solidFill>
                        <a:srgbClr val="B8B8B8"/>
                      </a:solidFill>
                      <a:prstDash val="solid"/>
                      <a:round/>
                      <a:headEnd type="none" w="med" len="med"/>
                      <a:tailEnd type="none" w="med" len="med"/>
                    </a:lnL>
                    <a:lnR cmpd="sng" algn="ctr" cap="flat" w="12700">
                      <a:solidFill>
                        <a:srgbClr val="B8B8B8"/>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340"/>
                        </a:lnSpc>
                        <a:defRPr/>
                      </a:pPr>
                      <a:r>
                        <a:rPr lang="en-US" sz="1950">
                          <a:solidFill>
                            <a:srgbClr val="000000"/>
                          </a:solidFill>
                          <a:latin typeface="Century Gothic Paneuropean"/>
                          <a:ea typeface="Century Gothic Paneuropean"/>
                          <a:cs typeface="Century Gothic Paneuropean"/>
                          <a:sym typeface="Century Gothic Paneuropean"/>
                        </a:rPr>
                        <a:t>Need to choose right polynomial degree for a. Good bias and trade off.</a:t>
                      </a:r>
                      <a:endParaRPr lang="en-US" sz="1100"/>
                    </a:p>
                  </a:txBody>
                  <a:tcPr marL="35719" marR="35719" marT="35719" marB="35719" anchor="ctr">
                    <a:lnL cmpd="sng" algn="ctr" cap="flat" w="12700">
                      <a:solidFill>
                        <a:srgbClr val="B8B8B8"/>
                      </a:solidFill>
                      <a:prstDash val="solid"/>
                      <a:round/>
                      <a:headEnd type="none" w="med" len="med"/>
                      <a:tailEnd type="none" w="med" len="med"/>
                    </a:lnL>
                    <a:lnR cmpd="sng" algn="ctr" cap="flat" w="38100">
                      <a:solidFill>
                        <a:srgbClr val="004D8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1232260">
                <a:tc>
                  <a:txBody>
                    <a:bodyPr anchor="t" rtlCol="false"/>
                    <a:lstStyle/>
                    <a:p>
                      <a:pPr algn="l">
                        <a:lnSpc>
                          <a:spcPts val="2700"/>
                        </a:lnSpc>
                        <a:defRPr/>
                      </a:pPr>
                      <a:r>
                        <a:rPr lang="en-US" sz="2250">
                          <a:solidFill>
                            <a:srgbClr val="000000"/>
                          </a:solidFill>
                          <a:latin typeface="Century Gothic Paneuropean"/>
                          <a:ea typeface="Century Gothic Paneuropean"/>
                          <a:cs typeface="Century Gothic Paneuropean"/>
                          <a:sym typeface="Century Gothic Paneuropean"/>
                        </a:rPr>
                        <a:t>SVR</a:t>
                      </a:r>
                      <a:endParaRPr lang="en-US" sz="1100"/>
                    </a:p>
                  </a:txBody>
                  <a:tcPr marL="35719" marR="35719" marT="35719" marB="35719" anchor="ctr">
                    <a:lnL cmpd="sng" algn="ctr" cap="flat" w="38100">
                      <a:solidFill>
                        <a:srgbClr val="004D80"/>
                      </a:solidFill>
                      <a:prstDash val="solid"/>
                      <a:round/>
                      <a:headEnd type="none" w="med" len="med"/>
                      <a:tailEnd type="none" w="med" len="med"/>
                    </a:lnL>
                    <a:lnR cmpd="sng" algn="ctr" cap="flat" w="12700">
                      <a:solidFill>
                        <a:srgbClr val="B8B8B8"/>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340"/>
                        </a:lnSpc>
                        <a:defRPr/>
                      </a:pPr>
                      <a:r>
                        <a:rPr lang="en-US" sz="1950">
                          <a:solidFill>
                            <a:srgbClr val="000000"/>
                          </a:solidFill>
                          <a:latin typeface="Century Gothic Paneuropean"/>
                          <a:ea typeface="Century Gothic Paneuropean"/>
                          <a:cs typeface="Century Gothic Paneuropean"/>
                          <a:sym typeface="Century Gothic Paneuropean"/>
                        </a:rPr>
                        <a:t>Easily adaptable, works very well on non linear problems, not biased by outliers</a:t>
                      </a:r>
                      <a:endParaRPr lang="en-US" sz="1100"/>
                    </a:p>
                  </a:txBody>
                  <a:tcPr marL="35719" marR="35719" marT="35719" marB="35719" anchor="ctr">
                    <a:lnL cmpd="sng" algn="ctr" cap="flat" w="12700">
                      <a:solidFill>
                        <a:srgbClr val="B8B8B8"/>
                      </a:solidFill>
                      <a:prstDash val="solid"/>
                      <a:round/>
                      <a:headEnd type="none" w="med" len="med"/>
                      <a:tailEnd type="none" w="med" len="med"/>
                    </a:lnL>
                    <a:lnR cmpd="sng" algn="ctr" cap="flat" w="12700">
                      <a:solidFill>
                        <a:srgbClr val="B8B8B8"/>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340"/>
                        </a:lnSpc>
                        <a:defRPr/>
                      </a:pPr>
                      <a:r>
                        <a:rPr lang="en-US" sz="1950">
                          <a:solidFill>
                            <a:srgbClr val="000000"/>
                          </a:solidFill>
                          <a:latin typeface="Century Gothic Paneuropean"/>
                          <a:ea typeface="Century Gothic Paneuropean"/>
                          <a:cs typeface="Century Gothic Paneuropean"/>
                          <a:sym typeface="Century Gothic Paneuropean"/>
                        </a:rPr>
                        <a:t>Compulsory to apply feature scaling, not well known ,more difficult to understand.</a:t>
                      </a:r>
                      <a:endParaRPr lang="en-US" sz="1100"/>
                    </a:p>
                  </a:txBody>
                  <a:tcPr marL="35719" marR="35719" marT="35719" marB="35719" anchor="ctr">
                    <a:lnL cmpd="sng" algn="ctr" cap="flat" w="12700">
                      <a:solidFill>
                        <a:srgbClr val="B8B8B8"/>
                      </a:solidFill>
                      <a:prstDash val="solid"/>
                      <a:round/>
                      <a:headEnd type="none" w="med" len="med"/>
                      <a:tailEnd type="none" w="med" len="med"/>
                    </a:lnL>
                    <a:lnR cmpd="sng" algn="ctr" cap="flat" w="38100">
                      <a:solidFill>
                        <a:srgbClr val="004D8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1259538">
                <a:tc>
                  <a:txBody>
                    <a:bodyPr anchor="t" rtlCol="false"/>
                    <a:lstStyle/>
                    <a:p>
                      <a:pPr algn="l">
                        <a:lnSpc>
                          <a:spcPts val="2700"/>
                        </a:lnSpc>
                        <a:defRPr/>
                      </a:pPr>
                      <a:r>
                        <a:rPr lang="en-US" sz="2250">
                          <a:solidFill>
                            <a:srgbClr val="000000"/>
                          </a:solidFill>
                          <a:latin typeface="Century Gothic Paneuropean"/>
                          <a:ea typeface="Century Gothic Paneuropean"/>
                          <a:cs typeface="Century Gothic Paneuropean"/>
                          <a:sym typeface="Century Gothic Paneuropean"/>
                        </a:rPr>
                        <a:t>Decision tree recession</a:t>
                      </a:r>
                      <a:endParaRPr lang="en-US" sz="1100"/>
                    </a:p>
                  </a:txBody>
                  <a:tcPr marL="35719" marR="35719" marT="35719" marB="35719" anchor="ctr">
                    <a:lnL cmpd="sng" algn="ctr" cap="flat" w="38100">
                      <a:solidFill>
                        <a:srgbClr val="004D80"/>
                      </a:solidFill>
                      <a:prstDash val="solid"/>
                      <a:round/>
                      <a:headEnd type="none" w="med" len="med"/>
                      <a:tailEnd type="none" w="med" len="med"/>
                    </a:lnL>
                    <a:lnR cmpd="sng" algn="ctr" cap="flat" w="12700">
                      <a:solidFill>
                        <a:srgbClr val="B8B8B8"/>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340"/>
                        </a:lnSpc>
                        <a:defRPr/>
                      </a:pPr>
                      <a:r>
                        <a:rPr lang="en-US" sz="1950">
                          <a:solidFill>
                            <a:srgbClr val="000000"/>
                          </a:solidFill>
                          <a:latin typeface="Century Gothic Paneuropean"/>
                          <a:ea typeface="Century Gothic Paneuropean"/>
                          <a:cs typeface="Century Gothic Paneuropean"/>
                          <a:sym typeface="Century Gothic Paneuropean"/>
                        </a:rPr>
                        <a:t>Interpretability ,no need for feature scaling ,works on both linear and non linear problems</a:t>
                      </a:r>
                      <a:endParaRPr lang="en-US" sz="1100"/>
                    </a:p>
                  </a:txBody>
                  <a:tcPr marL="35719" marR="35719" marT="35719" marB="35719" anchor="ctr">
                    <a:lnL cmpd="sng" algn="ctr" cap="flat" w="12700">
                      <a:solidFill>
                        <a:srgbClr val="B8B8B8"/>
                      </a:solidFill>
                      <a:prstDash val="solid"/>
                      <a:round/>
                      <a:headEnd type="none" w="med" len="med"/>
                      <a:tailEnd type="none" w="med" len="med"/>
                    </a:lnL>
                    <a:lnR cmpd="sng" algn="ctr" cap="flat" w="12700">
                      <a:solidFill>
                        <a:srgbClr val="B8B8B8"/>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2520"/>
                        </a:lnSpc>
                        <a:defRPr/>
                      </a:pPr>
                      <a:r>
                        <a:rPr lang="en-US" sz="2100">
                          <a:solidFill>
                            <a:srgbClr val="000000"/>
                          </a:solidFill>
                          <a:latin typeface="Century Gothic Paneuropean"/>
                          <a:ea typeface="Century Gothic Paneuropean"/>
                          <a:cs typeface="Century Gothic Paneuropean"/>
                          <a:sym typeface="Century Gothic Paneuropean"/>
                        </a:rPr>
                        <a:t>Poor results on small datasets, overfitting can easily occur</a:t>
                      </a:r>
                      <a:endParaRPr lang="en-US" sz="1100"/>
                    </a:p>
                  </a:txBody>
                  <a:tcPr marL="35719" marR="35719" marT="35719" marB="35719" anchor="ctr">
                    <a:lnL cmpd="sng" algn="ctr" cap="flat" w="12700">
                      <a:solidFill>
                        <a:srgbClr val="B8B8B8"/>
                      </a:solidFill>
                      <a:prstDash val="solid"/>
                      <a:round/>
                      <a:headEnd type="none" w="med" len="med"/>
                      <a:tailEnd type="none" w="med" len="med"/>
                    </a:lnL>
                    <a:lnR cmpd="sng" algn="ctr" cap="flat" w="38100">
                      <a:solidFill>
                        <a:srgbClr val="004D8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1329879">
                <a:tc>
                  <a:txBody>
                    <a:bodyPr anchor="t" rtlCol="false"/>
                    <a:lstStyle/>
                    <a:p>
                      <a:pPr algn="l">
                        <a:lnSpc>
                          <a:spcPts val="2700"/>
                        </a:lnSpc>
                        <a:defRPr/>
                      </a:pPr>
                      <a:r>
                        <a:rPr lang="en-US" sz="2250">
                          <a:solidFill>
                            <a:srgbClr val="000000"/>
                          </a:solidFill>
                          <a:latin typeface="Century Gothic Paneuropean"/>
                          <a:ea typeface="Century Gothic Paneuropean"/>
                          <a:cs typeface="Century Gothic Paneuropean"/>
                          <a:sym typeface="Century Gothic Paneuropean"/>
                        </a:rPr>
                        <a:t>Random forest regression</a:t>
                      </a:r>
                      <a:endParaRPr lang="en-US" sz="1100"/>
                    </a:p>
                  </a:txBody>
                  <a:tcPr marL="35719" marR="35719" marT="35719" marB="35719" anchor="ctr">
                    <a:lnL cmpd="sng" algn="ctr" cap="flat" w="38100">
                      <a:solidFill>
                        <a:srgbClr val="004D80"/>
                      </a:solidFill>
                      <a:prstDash val="solid"/>
                      <a:round/>
                      <a:headEnd type="none" w="med" len="med"/>
                      <a:tailEnd type="none" w="med" len="med"/>
                    </a:lnL>
                    <a:lnR cmpd="sng" algn="ctr" cap="flat" w="12700">
                      <a:solidFill>
                        <a:srgbClr val="B8B8B8"/>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38100">
                      <a:solidFill>
                        <a:srgbClr val="004D80"/>
                      </a:solidFill>
                      <a:prstDash val="solid"/>
                      <a:round/>
                      <a:headEnd type="none" w="med" len="med"/>
                      <a:tailEnd type="none" w="med" len="med"/>
                    </a:lnB>
                  </a:tcPr>
                </a:tc>
                <a:tc>
                  <a:txBody>
                    <a:bodyPr anchor="t" rtlCol="false"/>
                    <a:lstStyle/>
                    <a:p>
                      <a:pPr algn="l">
                        <a:lnSpc>
                          <a:spcPts val="2340"/>
                        </a:lnSpc>
                        <a:defRPr/>
                      </a:pPr>
                      <a:r>
                        <a:rPr lang="en-US" sz="1950">
                          <a:solidFill>
                            <a:srgbClr val="000000"/>
                          </a:solidFill>
                          <a:latin typeface="Century Gothic Paneuropean"/>
                          <a:ea typeface="Century Gothic Paneuropean"/>
                          <a:cs typeface="Century Gothic Paneuropean"/>
                          <a:sym typeface="Century Gothic Paneuropean"/>
                        </a:rPr>
                        <a:t>Powerful and accurate ,good performance many problems ,including non linear</a:t>
                      </a:r>
                      <a:endParaRPr lang="en-US" sz="1100"/>
                    </a:p>
                  </a:txBody>
                  <a:tcPr marL="35719" marR="35719" marT="35719" marB="35719" anchor="ctr">
                    <a:lnL cmpd="sng" algn="ctr" cap="flat" w="12700">
                      <a:solidFill>
                        <a:srgbClr val="B8B8B8"/>
                      </a:solidFill>
                      <a:prstDash val="solid"/>
                      <a:round/>
                      <a:headEnd type="none" w="med" len="med"/>
                      <a:tailEnd type="none" w="med" len="med"/>
                    </a:lnL>
                    <a:lnR cmpd="sng" algn="ctr" cap="flat" w="12700">
                      <a:solidFill>
                        <a:srgbClr val="B8B8B8"/>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38100">
                      <a:solidFill>
                        <a:srgbClr val="004D80"/>
                      </a:solidFill>
                      <a:prstDash val="solid"/>
                      <a:round/>
                      <a:headEnd type="none" w="med" len="med"/>
                      <a:tailEnd type="none" w="med" len="med"/>
                    </a:lnB>
                  </a:tcPr>
                </a:tc>
                <a:tc>
                  <a:txBody>
                    <a:bodyPr anchor="t" rtlCol="false"/>
                    <a:lstStyle/>
                    <a:p>
                      <a:pPr algn="l">
                        <a:lnSpc>
                          <a:spcPts val="2340"/>
                        </a:lnSpc>
                        <a:defRPr/>
                      </a:pPr>
                      <a:r>
                        <a:rPr lang="en-US" sz="1950">
                          <a:solidFill>
                            <a:srgbClr val="000000"/>
                          </a:solidFill>
                          <a:latin typeface="Century Gothic Paneuropean"/>
                          <a:ea typeface="Century Gothic Paneuropean"/>
                          <a:cs typeface="Century Gothic Paneuropean"/>
                          <a:sym typeface="Century Gothic Paneuropean"/>
                        </a:rPr>
                        <a:t>No Interpretability , overfitting can easily occur, need to choose number of trees</a:t>
                      </a:r>
                      <a:endParaRPr lang="en-US" sz="1100"/>
                    </a:p>
                  </a:txBody>
                  <a:tcPr marL="35719" marR="35719" marT="35719" marB="35719" anchor="ctr">
                    <a:lnL cmpd="sng" algn="ctr" cap="flat" w="12700">
                      <a:solidFill>
                        <a:srgbClr val="B8B8B8"/>
                      </a:solidFill>
                      <a:prstDash val="solid"/>
                      <a:round/>
                      <a:headEnd type="none" w="med" len="med"/>
                      <a:tailEnd type="none" w="med" len="med"/>
                    </a:lnL>
                    <a:lnR cmpd="sng" algn="ctr" cap="flat" w="38100">
                      <a:solidFill>
                        <a:srgbClr val="004D8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38100">
                      <a:solidFill>
                        <a:srgbClr val="004D80"/>
                      </a:solidFill>
                      <a:prstDash val="solid"/>
                      <a:round/>
                      <a:headEnd type="none" w="med" len="med"/>
                      <a:tailEnd type="none" w="med" len="med"/>
                    </a:lnB>
                  </a:tcPr>
                </a:tc>
              </a:tr>
            </a:tbl>
          </a:graphicData>
        </a:graphic>
      </p:graphicFrame>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647610" y="502766"/>
            <a:ext cx="9417556" cy="742950"/>
          </a:xfrm>
          <a:prstGeom prst="rect">
            <a:avLst/>
          </a:prstGeom>
        </p:spPr>
        <p:txBody>
          <a:bodyPr anchor="t" rtlCol="false" tIns="0" lIns="0" bIns="0" rIns="0">
            <a:spAutoFit/>
          </a:bodyPr>
          <a:lstStyle/>
          <a:p>
            <a:pPr algn="l">
              <a:lnSpc>
                <a:spcPts val="5759"/>
              </a:lnSpc>
            </a:pPr>
            <a:r>
              <a:rPr lang="en-US" b="true" sz="4800">
                <a:solidFill>
                  <a:srgbClr val="000000"/>
                </a:solidFill>
                <a:latin typeface="Arimo Bold"/>
                <a:ea typeface="Arimo Bold"/>
                <a:cs typeface="Arimo Bold"/>
                <a:sym typeface="Arimo Bold"/>
              </a:rPr>
              <a:t>LOGISTIC REGRESSION</a:t>
            </a:r>
          </a:p>
        </p:txBody>
      </p:sp>
      <p:sp>
        <p:nvSpPr>
          <p:cNvPr name="TextBox 3" id="3"/>
          <p:cNvSpPr txBox="true"/>
          <p:nvPr/>
        </p:nvSpPr>
        <p:spPr>
          <a:xfrm rot="0">
            <a:off x="1237797" y="1596896"/>
            <a:ext cx="15812406" cy="4974336"/>
          </a:xfrm>
          <a:prstGeom prst="rect">
            <a:avLst/>
          </a:prstGeom>
        </p:spPr>
        <p:txBody>
          <a:bodyPr anchor="t" rtlCol="false" tIns="0" lIns="0" bIns="0" rIns="0">
            <a:spAutoFit/>
          </a:bodyPr>
          <a:lstStyle/>
          <a:p>
            <a:pPr algn="l">
              <a:lnSpc>
                <a:spcPts val="5022"/>
              </a:lnSpc>
            </a:pPr>
            <a:r>
              <a:rPr lang="en-US" sz="2700">
                <a:solidFill>
                  <a:srgbClr val="000000"/>
                </a:solidFill>
                <a:latin typeface="Century Gothic Paneuropean"/>
                <a:ea typeface="Century Gothic Paneuropean"/>
                <a:cs typeface="Century Gothic Paneuropean"/>
                <a:sym typeface="Century Gothic Paneuropean"/>
              </a:rPr>
              <a:t>In statistics, the logistic model is used to model the probability of a certain class or event existing such as pass/fail, win/lose, alive/dead or healthy/sick. This can be extended to model several classes of events such as determining whether an image contains a cat, dog, lion, etc</a:t>
            </a:r>
          </a:p>
          <a:p>
            <a:pPr algn="l">
              <a:lnSpc>
                <a:spcPts val="5022"/>
              </a:lnSpc>
            </a:pPr>
            <a:r>
              <a:rPr lang="en-US" sz="2700">
                <a:solidFill>
                  <a:srgbClr val="000000"/>
                </a:solidFill>
                <a:latin typeface="Century Gothic Paneuropean"/>
                <a:ea typeface="Century Gothic Paneuropean"/>
                <a:cs typeface="Century Gothic Paneuropean"/>
                <a:sym typeface="Century Gothic Paneuropean"/>
              </a:rPr>
              <a:t>Based on the number of categories, Logistic regression can be classified as:</a:t>
            </a:r>
          </a:p>
          <a:p>
            <a:pPr algn="l">
              <a:lnSpc>
                <a:spcPts val="5022"/>
              </a:lnSpc>
            </a:pPr>
            <a:r>
              <a:rPr lang="en-US" b="true" sz="2700">
                <a:solidFill>
                  <a:srgbClr val="000000"/>
                </a:solidFill>
                <a:latin typeface="Century Gothic Paneuropean Bold"/>
                <a:ea typeface="Century Gothic Paneuropean Bold"/>
                <a:cs typeface="Century Gothic Paneuropean Bold"/>
                <a:sym typeface="Century Gothic Paneuropean Bold"/>
              </a:rPr>
              <a:t>binomial:</a:t>
            </a:r>
            <a:r>
              <a:rPr lang="en-US" sz="2700">
                <a:solidFill>
                  <a:srgbClr val="000000"/>
                </a:solidFill>
                <a:latin typeface="Century Gothic Paneuropean"/>
                <a:ea typeface="Century Gothic Paneuropean"/>
                <a:cs typeface="Century Gothic Paneuropean"/>
                <a:sym typeface="Century Gothic Paneuropean"/>
              </a:rPr>
              <a:t> Target variable can have only 2 possible types: “0” or “1” which may represent “win” vs “loss”, “pass” vs “fail”, “dead” vs “alive”, etc.</a:t>
            </a:r>
          </a:p>
          <a:p>
            <a:pPr algn="l">
              <a:lnSpc>
                <a:spcPts val="5022"/>
              </a:lnSpc>
            </a:pPr>
            <a:r>
              <a:rPr lang="en-US" b="true" sz="2700">
                <a:solidFill>
                  <a:srgbClr val="000000"/>
                </a:solidFill>
                <a:latin typeface="Century Gothic Paneuropean Bold"/>
                <a:ea typeface="Century Gothic Paneuropean Bold"/>
                <a:cs typeface="Century Gothic Paneuropean Bold"/>
                <a:sym typeface="Century Gothic Paneuropean Bold"/>
              </a:rPr>
              <a:t>multinomial:</a:t>
            </a:r>
            <a:r>
              <a:rPr lang="en-US" sz="2700">
                <a:solidFill>
                  <a:srgbClr val="000000"/>
                </a:solidFill>
                <a:latin typeface="Century Gothic Paneuropean"/>
                <a:ea typeface="Century Gothic Paneuropean"/>
                <a:cs typeface="Century Gothic Paneuropean"/>
                <a:sym typeface="Century Gothic Paneuropean"/>
              </a:rPr>
              <a:t> Target variable can have 3 or more possible types which are not ordered(i.e. types have no quantitative significance) like “disease A” vs “disease B” vs “disease C”.</a:t>
            </a:r>
          </a:p>
        </p:txBody>
      </p:sp>
      <p:sp>
        <p:nvSpPr>
          <p:cNvPr name="TextBox 4" id="4"/>
          <p:cNvSpPr txBox="true"/>
          <p:nvPr/>
        </p:nvSpPr>
        <p:spPr>
          <a:xfrm rot="0">
            <a:off x="1237797" y="7325038"/>
            <a:ext cx="14322828" cy="1228725"/>
          </a:xfrm>
          <a:prstGeom prst="rect">
            <a:avLst/>
          </a:prstGeom>
        </p:spPr>
        <p:txBody>
          <a:bodyPr anchor="t" rtlCol="false" tIns="0" lIns="0" bIns="0" rIns="0">
            <a:spAutoFit/>
          </a:bodyPr>
          <a:lstStyle/>
          <a:p>
            <a:pPr algn="l">
              <a:lnSpc>
                <a:spcPts val="3240"/>
              </a:lnSpc>
            </a:pPr>
            <a:r>
              <a:rPr lang="en-US" b="true" sz="2700">
                <a:solidFill>
                  <a:srgbClr val="000000"/>
                </a:solidFill>
                <a:latin typeface="Century Gothic Paneuropean Bold"/>
                <a:ea typeface="Century Gothic Paneuropean Bold"/>
                <a:cs typeface="Century Gothic Paneuropean Bold"/>
                <a:sym typeface="Century Gothic Paneuropean Bold"/>
              </a:rPr>
              <a:t>ordinal:</a:t>
            </a:r>
            <a:r>
              <a:rPr lang="en-US" sz="2700">
                <a:solidFill>
                  <a:srgbClr val="000000"/>
                </a:solidFill>
                <a:latin typeface="Century Gothic Paneuropean"/>
                <a:ea typeface="Century Gothic Paneuropean"/>
                <a:cs typeface="Century Gothic Paneuropean"/>
                <a:sym typeface="Century Gothic Paneuropean"/>
              </a:rPr>
              <a:t> It deals with target variables with ordered categories. For example, a test score can be categorized as:“very poor”, “poor”, “good”, “very good”. Here, each category can be given a score like 0, 1, 2, 3.</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647610" y="502766"/>
            <a:ext cx="9417556" cy="742950"/>
          </a:xfrm>
          <a:prstGeom prst="rect">
            <a:avLst/>
          </a:prstGeom>
        </p:spPr>
        <p:txBody>
          <a:bodyPr anchor="t" rtlCol="false" tIns="0" lIns="0" bIns="0" rIns="0">
            <a:spAutoFit/>
          </a:bodyPr>
          <a:lstStyle/>
          <a:p>
            <a:pPr algn="l">
              <a:lnSpc>
                <a:spcPts val="5759"/>
              </a:lnSpc>
            </a:pPr>
            <a:r>
              <a:rPr lang="en-US" b="true" sz="4800">
                <a:solidFill>
                  <a:srgbClr val="000000"/>
                </a:solidFill>
                <a:latin typeface="Arimo Bold"/>
                <a:ea typeface="Arimo Bold"/>
                <a:cs typeface="Arimo Bold"/>
                <a:sym typeface="Arimo Bold"/>
              </a:rPr>
              <a:t>LOGISTIC REGRESSION</a:t>
            </a:r>
          </a:p>
        </p:txBody>
      </p:sp>
      <p:sp>
        <p:nvSpPr>
          <p:cNvPr name="TextBox 3" id="3"/>
          <p:cNvSpPr txBox="true"/>
          <p:nvPr/>
        </p:nvSpPr>
        <p:spPr>
          <a:xfrm rot="0">
            <a:off x="1011774" y="1265949"/>
            <a:ext cx="15694428" cy="2476500"/>
          </a:xfrm>
          <a:prstGeom prst="rect">
            <a:avLst/>
          </a:prstGeom>
        </p:spPr>
        <p:txBody>
          <a:bodyPr anchor="t" rtlCol="false" tIns="0" lIns="0" bIns="0" rIns="0">
            <a:spAutoFit/>
          </a:bodyPr>
          <a:lstStyle/>
          <a:p>
            <a:pPr algn="l" marL="488632" indent="-244316" lvl="1">
              <a:lnSpc>
                <a:spcPts val="3240"/>
              </a:lnSpc>
              <a:buFont typeface="Arial"/>
              <a:buChar char="•"/>
            </a:pPr>
            <a:r>
              <a:rPr lang="en-US" sz="2700">
                <a:solidFill>
                  <a:srgbClr val="000000"/>
                </a:solidFill>
                <a:latin typeface="Georgia"/>
                <a:ea typeface="Georgia"/>
                <a:cs typeface="Georgia"/>
                <a:sym typeface="Georgia"/>
              </a:rPr>
              <a:t>Start with </a:t>
            </a:r>
            <a:r>
              <a:rPr lang="en-US" b="true" sz="2700">
                <a:solidFill>
                  <a:srgbClr val="000000"/>
                </a:solidFill>
                <a:latin typeface="Georgia Bold"/>
                <a:ea typeface="Georgia Bold"/>
                <a:cs typeface="Georgia Bold"/>
                <a:sym typeface="Georgia Bold"/>
              </a:rPr>
              <a:t>binary class problems</a:t>
            </a:r>
          </a:p>
          <a:p>
            <a:pPr algn="l" marL="488632" indent="-244316" lvl="1">
              <a:lnSpc>
                <a:spcPts val="3240"/>
              </a:lnSpc>
            </a:pPr>
            <a:r>
              <a:rPr lang="en-US" sz="2700">
                <a:solidFill>
                  <a:srgbClr val="000000"/>
                </a:solidFill>
                <a:latin typeface="Georgia"/>
                <a:ea typeface="Georgia"/>
                <a:cs typeface="Georgia"/>
                <a:sym typeface="Georgia"/>
              </a:rPr>
              <a:t>How do we develop a classification algorithm?</a:t>
            </a:r>
          </a:p>
          <a:p>
            <a:pPr algn="l" marL="1174432" indent="-391478" lvl="2">
              <a:lnSpc>
                <a:spcPts val="3240"/>
              </a:lnSpc>
              <a:buFont typeface="Arial"/>
              <a:buChar char="⚬"/>
            </a:pPr>
            <a:r>
              <a:rPr lang="en-US" sz="2700">
                <a:solidFill>
                  <a:srgbClr val="000000"/>
                </a:solidFill>
                <a:latin typeface="Georgia"/>
                <a:ea typeface="Georgia"/>
                <a:cs typeface="Georgia"/>
                <a:sym typeface="Georgia"/>
              </a:rPr>
              <a:t>Tumour size vs malignancy (0 or 1)</a:t>
            </a:r>
          </a:p>
          <a:p>
            <a:pPr algn="l" marL="1174432" indent="-391478" lvl="2">
              <a:lnSpc>
                <a:spcPts val="3240"/>
              </a:lnSpc>
              <a:buFont typeface="Arial"/>
              <a:buChar char="⚬"/>
            </a:pPr>
            <a:r>
              <a:rPr lang="en-US" sz="2700">
                <a:solidFill>
                  <a:srgbClr val="000000"/>
                </a:solidFill>
                <a:latin typeface="Georgia"/>
                <a:ea typeface="Georgia"/>
                <a:cs typeface="Georgia"/>
                <a:sym typeface="Georgia"/>
              </a:rPr>
              <a:t>We </a:t>
            </a:r>
            <a:r>
              <a:rPr lang="en-US" sz="2700" i="true">
                <a:solidFill>
                  <a:srgbClr val="000000"/>
                </a:solidFill>
                <a:latin typeface="Georgia Italics"/>
                <a:ea typeface="Georgia Italics"/>
                <a:cs typeface="Georgia Italics"/>
                <a:sym typeface="Georgia Italics"/>
              </a:rPr>
              <a:t>could</a:t>
            </a:r>
            <a:r>
              <a:rPr lang="en-US" sz="2700">
                <a:solidFill>
                  <a:srgbClr val="000000"/>
                </a:solidFill>
                <a:latin typeface="Georgia"/>
                <a:ea typeface="Georgia"/>
                <a:cs typeface="Georgia"/>
                <a:sym typeface="Georgia"/>
              </a:rPr>
              <a:t> use linear regression</a:t>
            </a:r>
          </a:p>
          <a:p>
            <a:pPr algn="l" marL="1860233" indent="-465058" lvl="3">
              <a:lnSpc>
                <a:spcPts val="3240"/>
              </a:lnSpc>
              <a:buFont typeface="Arial"/>
              <a:buChar char="￭"/>
            </a:pPr>
            <a:r>
              <a:rPr lang="en-US" sz="2700">
                <a:solidFill>
                  <a:srgbClr val="000000"/>
                </a:solidFill>
                <a:latin typeface="Georgia"/>
                <a:ea typeface="Georgia"/>
                <a:cs typeface="Georgia"/>
                <a:sym typeface="Georgia"/>
              </a:rPr>
              <a:t>Then threshold the classifier output (i.e. anything over some value is yes, else no)</a:t>
            </a:r>
          </a:p>
          <a:p>
            <a:pPr algn="l" marL="1860233" indent="-465058" lvl="3">
              <a:lnSpc>
                <a:spcPts val="3240"/>
              </a:lnSpc>
              <a:buFont typeface="Arial"/>
              <a:buChar char="￭"/>
            </a:pPr>
            <a:r>
              <a:rPr lang="en-US" sz="2700">
                <a:solidFill>
                  <a:srgbClr val="000000"/>
                </a:solidFill>
                <a:latin typeface="Georgia"/>
                <a:ea typeface="Georgia"/>
                <a:cs typeface="Georgia"/>
                <a:sym typeface="Georgia"/>
              </a:rPr>
              <a:t>In our example below linear regression with thresholding seems to work</a:t>
            </a:r>
          </a:p>
        </p:txBody>
      </p:sp>
      <p:grpSp>
        <p:nvGrpSpPr>
          <p:cNvPr name="Group 4" id="4"/>
          <p:cNvGrpSpPr/>
          <p:nvPr/>
        </p:nvGrpSpPr>
        <p:grpSpPr>
          <a:xfrm rot="0">
            <a:off x="2103302" y="4444235"/>
            <a:ext cx="11797978" cy="3945680"/>
            <a:chOff x="0" y="0"/>
            <a:chExt cx="13398614" cy="4480992"/>
          </a:xfrm>
        </p:grpSpPr>
        <p:sp>
          <p:nvSpPr>
            <p:cNvPr name="Freeform 5" id="5" descr="http://www.holehouse.org/mlclass/06_Logistic_Regression_files/Image.png"/>
            <p:cNvSpPr/>
            <p:nvPr/>
          </p:nvSpPr>
          <p:spPr>
            <a:xfrm flipH="false" flipV="false" rot="0">
              <a:off x="0" y="0"/>
              <a:ext cx="13398627" cy="4480941"/>
            </a:xfrm>
            <a:custGeom>
              <a:avLst/>
              <a:gdLst/>
              <a:ahLst/>
              <a:cxnLst/>
              <a:rect r="r" b="b" t="t" l="l"/>
              <a:pathLst>
                <a:path h="4480941" w="13398627">
                  <a:moveTo>
                    <a:pt x="0" y="0"/>
                  </a:moveTo>
                  <a:lnTo>
                    <a:pt x="13398627" y="0"/>
                  </a:lnTo>
                  <a:lnTo>
                    <a:pt x="13398627" y="4480941"/>
                  </a:lnTo>
                  <a:lnTo>
                    <a:pt x="0" y="4480941"/>
                  </a:lnTo>
                  <a:lnTo>
                    <a:pt x="0" y="0"/>
                  </a:lnTo>
                  <a:close/>
                </a:path>
              </a:pathLst>
            </a:custGeom>
            <a:blipFill>
              <a:blip r:embed="rId2"/>
              <a:stretch>
                <a:fillRect l="0" t="0" r="0" b="-1"/>
              </a:stretch>
            </a:blipFill>
          </p:spPr>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647610" y="502766"/>
            <a:ext cx="9417556" cy="742950"/>
          </a:xfrm>
          <a:prstGeom prst="rect">
            <a:avLst/>
          </a:prstGeom>
        </p:spPr>
        <p:txBody>
          <a:bodyPr anchor="t" rtlCol="false" tIns="0" lIns="0" bIns="0" rIns="0">
            <a:spAutoFit/>
          </a:bodyPr>
          <a:lstStyle/>
          <a:p>
            <a:pPr algn="l">
              <a:lnSpc>
                <a:spcPts val="5759"/>
              </a:lnSpc>
            </a:pPr>
            <a:r>
              <a:rPr lang="en-US" b="true" sz="4800">
                <a:solidFill>
                  <a:srgbClr val="000000"/>
                </a:solidFill>
                <a:latin typeface="Arimo Bold"/>
                <a:ea typeface="Arimo Bold"/>
                <a:cs typeface="Arimo Bold"/>
                <a:sym typeface="Arimo Bold"/>
              </a:rPr>
              <a:t>LOGISTIC REGRESSION</a:t>
            </a:r>
          </a:p>
        </p:txBody>
      </p:sp>
      <p:sp>
        <p:nvSpPr>
          <p:cNvPr name="TextBox 3" id="3"/>
          <p:cNvSpPr txBox="true"/>
          <p:nvPr/>
        </p:nvSpPr>
        <p:spPr>
          <a:xfrm rot="0">
            <a:off x="1028700" y="1548742"/>
            <a:ext cx="15569736" cy="3295650"/>
          </a:xfrm>
          <a:prstGeom prst="rect">
            <a:avLst/>
          </a:prstGeom>
        </p:spPr>
        <p:txBody>
          <a:bodyPr anchor="t" rtlCol="false" tIns="0" lIns="0" bIns="0" rIns="0">
            <a:spAutoFit/>
          </a:bodyPr>
          <a:lstStyle/>
          <a:p>
            <a:pPr algn="l" marL="488632" indent="-244316" lvl="1">
              <a:lnSpc>
                <a:spcPts val="3240"/>
              </a:lnSpc>
              <a:buFont typeface="Arial"/>
              <a:buChar char="•"/>
            </a:pPr>
            <a:r>
              <a:rPr lang="en-US" sz="2700">
                <a:solidFill>
                  <a:srgbClr val="000000"/>
                </a:solidFill>
                <a:latin typeface="Georgia"/>
                <a:ea typeface="Georgia"/>
                <a:cs typeface="Georgia"/>
                <a:sym typeface="Georgia"/>
              </a:rPr>
              <a:t>We can see above this does a reasonable job of stratifying the data points into one of two classes</a:t>
            </a:r>
          </a:p>
          <a:p>
            <a:pPr algn="l" marL="1174432" indent="-391478" lvl="2">
              <a:lnSpc>
                <a:spcPts val="3240"/>
              </a:lnSpc>
              <a:buFont typeface="Arial"/>
              <a:buChar char="⚬"/>
            </a:pPr>
            <a:r>
              <a:rPr lang="en-US" sz="2700">
                <a:solidFill>
                  <a:srgbClr val="000000"/>
                </a:solidFill>
                <a:latin typeface="Georgia"/>
                <a:ea typeface="Georgia"/>
                <a:cs typeface="Georgia"/>
                <a:sym typeface="Georgia"/>
              </a:rPr>
              <a:t>But what if we had a single Yes with a very small tumour </a:t>
            </a:r>
          </a:p>
          <a:p>
            <a:pPr algn="l" marL="1174432" indent="-391478" lvl="2">
              <a:lnSpc>
                <a:spcPts val="3240"/>
              </a:lnSpc>
              <a:buFont typeface="Arial"/>
              <a:buChar char="⚬"/>
            </a:pPr>
            <a:r>
              <a:rPr lang="en-US" sz="2700">
                <a:solidFill>
                  <a:srgbClr val="000000"/>
                </a:solidFill>
                <a:latin typeface="Georgia"/>
                <a:ea typeface="Georgia"/>
                <a:cs typeface="Georgia"/>
                <a:sym typeface="Georgia"/>
              </a:rPr>
              <a:t>This would lead to classifying all the existing yeses as nos</a:t>
            </a:r>
          </a:p>
          <a:p>
            <a:pPr algn="l" marL="488632" indent="-244316" lvl="1">
              <a:lnSpc>
                <a:spcPts val="3240"/>
              </a:lnSpc>
              <a:buFont typeface="Arial"/>
              <a:buChar char="•"/>
            </a:pPr>
            <a:r>
              <a:rPr lang="en-US" sz="2700">
                <a:solidFill>
                  <a:srgbClr val="000000"/>
                </a:solidFill>
                <a:latin typeface="Georgia"/>
                <a:ea typeface="Georgia"/>
                <a:cs typeface="Georgia"/>
                <a:sym typeface="Georgia"/>
              </a:rPr>
              <a:t>Another issues with linear regression</a:t>
            </a:r>
          </a:p>
          <a:p>
            <a:pPr algn="l" marL="1174432" indent="-391478" lvl="2">
              <a:lnSpc>
                <a:spcPts val="3240"/>
              </a:lnSpc>
              <a:buFont typeface="Arial"/>
              <a:buChar char="⚬"/>
            </a:pPr>
            <a:r>
              <a:rPr lang="en-US" sz="2700">
                <a:solidFill>
                  <a:srgbClr val="000000"/>
                </a:solidFill>
                <a:latin typeface="Georgia"/>
                <a:ea typeface="Georgia"/>
                <a:cs typeface="Georgia"/>
                <a:sym typeface="Georgia"/>
              </a:rPr>
              <a:t>We know Y is 0 or 1</a:t>
            </a:r>
          </a:p>
          <a:p>
            <a:pPr algn="l" marL="1174432" indent="-391478" lvl="2">
              <a:lnSpc>
                <a:spcPts val="3240"/>
              </a:lnSpc>
              <a:buFont typeface="Arial"/>
              <a:buChar char="⚬"/>
            </a:pPr>
            <a:r>
              <a:rPr lang="en-US" sz="2700">
                <a:solidFill>
                  <a:srgbClr val="000000"/>
                </a:solidFill>
                <a:latin typeface="Georgia"/>
                <a:ea typeface="Georgia"/>
                <a:cs typeface="Georgia"/>
                <a:sym typeface="Georgia"/>
              </a:rPr>
              <a:t>Hypothesis can give values large than 1 or less than 0</a:t>
            </a:r>
          </a:p>
          <a:p>
            <a:pPr algn="l" marL="488632" indent="-244316" lvl="1">
              <a:lnSpc>
                <a:spcPts val="3240"/>
              </a:lnSpc>
              <a:buFont typeface="Arial"/>
              <a:buChar char="•"/>
            </a:pPr>
            <a:r>
              <a:rPr lang="en-US" sz="2700">
                <a:solidFill>
                  <a:srgbClr val="000000"/>
                </a:solidFill>
                <a:latin typeface="Georgia"/>
                <a:ea typeface="Georgia"/>
                <a:cs typeface="Georgia"/>
                <a:sym typeface="Georgia"/>
              </a:rPr>
              <a:t>So, logistic regression generates a value where is always either 0 or 1</a:t>
            </a:r>
          </a:p>
          <a:p>
            <a:pPr algn="l" marL="1174432" indent="-391478" lvl="2">
              <a:lnSpc>
                <a:spcPts val="3240"/>
              </a:lnSpc>
              <a:buFont typeface="Arial"/>
              <a:buChar char="⚬"/>
            </a:pPr>
            <a:r>
              <a:rPr lang="en-US" sz="2700">
                <a:solidFill>
                  <a:srgbClr val="000000"/>
                </a:solidFill>
                <a:latin typeface="Georgia"/>
                <a:ea typeface="Georgia"/>
                <a:cs typeface="Georgia"/>
                <a:sym typeface="Georgia"/>
              </a:rPr>
              <a:t>Logistic regression is a </a:t>
            </a:r>
            <a:r>
              <a:rPr lang="en-US" b="true" sz="2700">
                <a:solidFill>
                  <a:srgbClr val="000000"/>
                </a:solidFill>
                <a:latin typeface="Georgia Bold"/>
                <a:ea typeface="Georgia Bold"/>
                <a:cs typeface="Georgia Bold"/>
                <a:sym typeface="Georgia Bold"/>
              </a:rPr>
              <a:t>classification algorithm</a:t>
            </a:r>
            <a:r>
              <a:rPr lang="en-US" sz="2700">
                <a:solidFill>
                  <a:srgbClr val="000000"/>
                </a:solidFill>
                <a:latin typeface="Georgia"/>
                <a:ea typeface="Georgia"/>
                <a:cs typeface="Georgia"/>
                <a:sym typeface="Georgia"/>
              </a:rPr>
              <a:t> - don't be confused</a:t>
            </a:r>
          </a:p>
        </p:txBody>
      </p:sp>
      <p:sp>
        <p:nvSpPr>
          <p:cNvPr name="TextBox 4" id="4"/>
          <p:cNvSpPr txBox="true"/>
          <p:nvPr/>
        </p:nvSpPr>
        <p:spPr>
          <a:xfrm rot="0">
            <a:off x="1108862" y="5275045"/>
            <a:ext cx="15409421" cy="3705225"/>
          </a:xfrm>
          <a:prstGeom prst="rect">
            <a:avLst/>
          </a:prstGeom>
        </p:spPr>
        <p:txBody>
          <a:bodyPr anchor="t" rtlCol="false" tIns="0" lIns="0" bIns="0" rIns="0">
            <a:spAutoFit/>
          </a:bodyPr>
          <a:lstStyle/>
          <a:p>
            <a:pPr algn="l">
              <a:lnSpc>
                <a:spcPts val="3240"/>
              </a:lnSpc>
            </a:pPr>
            <a:r>
              <a:rPr lang="en-US" b="true" sz="2700" u="sng">
                <a:solidFill>
                  <a:srgbClr val="000000"/>
                </a:solidFill>
                <a:latin typeface="Georgia Bold"/>
                <a:ea typeface="Georgia Bold"/>
                <a:cs typeface="Georgia Bold"/>
                <a:sym typeface="Georgia Bold"/>
              </a:rPr>
              <a:t>Hypothesis representation</a:t>
            </a:r>
          </a:p>
          <a:p>
            <a:pPr algn="l" marL="488632" indent="-244316" lvl="1">
              <a:lnSpc>
                <a:spcPts val="3240"/>
              </a:lnSpc>
              <a:buFont typeface="Arial"/>
              <a:buChar char="•"/>
            </a:pPr>
            <a:r>
              <a:rPr lang="en-US" sz="2700">
                <a:solidFill>
                  <a:srgbClr val="000000"/>
                </a:solidFill>
                <a:latin typeface="Georgia"/>
                <a:ea typeface="Georgia"/>
                <a:cs typeface="Georgia"/>
                <a:sym typeface="Georgia"/>
              </a:rPr>
              <a:t>What function is used to represent our hypothesis in classification</a:t>
            </a:r>
          </a:p>
          <a:p>
            <a:pPr algn="l" marL="488632" indent="-244316" lvl="1">
              <a:lnSpc>
                <a:spcPts val="3240"/>
              </a:lnSpc>
              <a:buFont typeface="Arial"/>
              <a:buChar char="•"/>
            </a:pPr>
            <a:r>
              <a:rPr lang="en-US" sz="2700">
                <a:solidFill>
                  <a:srgbClr val="000000"/>
                </a:solidFill>
                <a:latin typeface="Georgia"/>
                <a:ea typeface="Georgia"/>
                <a:cs typeface="Georgia"/>
                <a:sym typeface="Georgia"/>
              </a:rPr>
              <a:t>We want our classifier to output values between 0 and 1</a:t>
            </a:r>
          </a:p>
          <a:p>
            <a:pPr algn="l" marL="1174432" indent="-391478" lvl="2">
              <a:lnSpc>
                <a:spcPts val="3240"/>
              </a:lnSpc>
              <a:buFont typeface="Arial"/>
              <a:buChar char="⚬"/>
            </a:pPr>
            <a:r>
              <a:rPr lang="en-US" sz="2700">
                <a:solidFill>
                  <a:srgbClr val="000000"/>
                </a:solidFill>
                <a:latin typeface="Georgia"/>
                <a:ea typeface="Georgia"/>
                <a:cs typeface="Georgia"/>
                <a:sym typeface="Georgia"/>
              </a:rPr>
              <a:t>When using linear regression we did  hθ(x) = (θ</a:t>
            </a:r>
            <a:r>
              <a:rPr lang="en-US" sz="2700" i="true">
                <a:solidFill>
                  <a:srgbClr val="000000"/>
                </a:solidFill>
                <a:latin typeface="Georgia Italics"/>
                <a:ea typeface="Georgia Italics"/>
                <a:cs typeface="Georgia Italics"/>
                <a:sym typeface="Georgia Italics"/>
              </a:rPr>
              <a:t>T</a:t>
            </a:r>
            <a:r>
              <a:rPr lang="en-US" sz="2700">
                <a:solidFill>
                  <a:srgbClr val="000000"/>
                </a:solidFill>
                <a:latin typeface="Georgia"/>
                <a:ea typeface="Georgia"/>
                <a:cs typeface="Georgia"/>
                <a:sym typeface="Georgia"/>
              </a:rPr>
              <a:t> x)</a:t>
            </a:r>
          </a:p>
          <a:p>
            <a:pPr algn="l" marL="1174432" indent="-391478" lvl="2">
              <a:lnSpc>
                <a:spcPts val="3240"/>
              </a:lnSpc>
              <a:buFont typeface="Arial"/>
              <a:buChar char="⚬"/>
            </a:pPr>
            <a:r>
              <a:rPr lang="en-US" sz="2700">
                <a:solidFill>
                  <a:srgbClr val="000000"/>
                </a:solidFill>
                <a:latin typeface="Georgia"/>
                <a:ea typeface="Georgia"/>
                <a:cs typeface="Georgia"/>
                <a:sym typeface="Georgia"/>
              </a:rPr>
              <a:t>For classification hypothesis representation we do hθ(x) = g((θ</a:t>
            </a:r>
            <a:r>
              <a:rPr lang="en-US" sz="2700" i="true">
                <a:solidFill>
                  <a:srgbClr val="000000"/>
                </a:solidFill>
                <a:latin typeface="Georgia Italics"/>
                <a:ea typeface="Georgia Italics"/>
                <a:cs typeface="Georgia Italics"/>
                <a:sym typeface="Georgia Italics"/>
              </a:rPr>
              <a:t>T</a:t>
            </a:r>
            <a:r>
              <a:rPr lang="en-US" sz="2700">
                <a:solidFill>
                  <a:srgbClr val="000000"/>
                </a:solidFill>
                <a:latin typeface="Georgia"/>
                <a:ea typeface="Georgia"/>
                <a:cs typeface="Georgia"/>
                <a:sym typeface="Georgia"/>
              </a:rPr>
              <a:t> x))</a:t>
            </a:r>
          </a:p>
          <a:p>
            <a:pPr algn="l" marL="1860233" indent="-465058" lvl="3">
              <a:lnSpc>
                <a:spcPts val="3240"/>
              </a:lnSpc>
              <a:buFont typeface="Arial"/>
              <a:buChar char="￭"/>
            </a:pPr>
            <a:r>
              <a:rPr lang="en-US" sz="2700">
                <a:solidFill>
                  <a:srgbClr val="000000"/>
                </a:solidFill>
                <a:latin typeface="Georgia"/>
                <a:ea typeface="Georgia"/>
                <a:cs typeface="Georgia"/>
                <a:sym typeface="Georgia"/>
              </a:rPr>
              <a:t>Where we define g(z)</a:t>
            </a:r>
          </a:p>
          <a:p>
            <a:pPr algn="l" marL="2546033" indent="-509207" lvl="4">
              <a:lnSpc>
                <a:spcPts val="3240"/>
              </a:lnSpc>
              <a:buFont typeface="Arial"/>
              <a:buChar char="•"/>
            </a:pPr>
            <a:r>
              <a:rPr lang="en-US" sz="2700">
                <a:solidFill>
                  <a:srgbClr val="000000"/>
                </a:solidFill>
                <a:latin typeface="Georgia"/>
                <a:ea typeface="Georgia"/>
                <a:cs typeface="Georgia"/>
                <a:sym typeface="Georgia"/>
              </a:rPr>
              <a:t>z is a real number</a:t>
            </a:r>
          </a:p>
          <a:p>
            <a:pPr algn="l" marL="2546033" indent="-509207" lvl="4">
              <a:lnSpc>
                <a:spcPts val="3240"/>
              </a:lnSpc>
              <a:buFont typeface="Arial"/>
              <a:buChar char="•"/>
            </a:pPr>
            <a:r>
              <a:rPr lang="en-US" sz="2700">
                <a:solidFill>
                  <a:srgbClr val="000000"/>
                </a:solidFill>
                <a:latin typeface="Georgia"/>
                <a:ea typeface="Georgia"/>
                <a:cs typeface="Georgia"/>
                <a:sym typeface="Georgia"/>
              </a:rPr>
              <a:t>This is the </a:t>
            </a:r>
            <a:r>
              <a:rPr lang="en-US" b="true" sz="2700">
                <a:solidFill>
                  <a:srgbClr val="000000"/>
                </a:solidFill>
                <a:latin typeface="Georgia Bold"/>
                <a:ea typeface="Georgia Bold"/>
                <a:cs typeface="Georgia Bold"/>
                <a:sym typeface="Georgia Bold"/>
              </a:rPr>
              <a:t>sigmoid function</a:t>
            </a:r>
            <a:r>
              <a:rPr lang="en-US" sz="2700">
                <a:solidFill>
                  <a:srgbClr val="000000"/>
                </a:solidFill>
                <a:latin typeface="Georgia"/>
                <a:ea typeface="Georgia"/>
                <a:cs typeface="Georgia"/>
                <a:sym typeface="Georgia"/>
              </a:rPr>
              <a:t>, or the </a:t>
            </a:r>
            <a:r>
              <a:rPr lang="en-US" b="true" sz="2700">
                <a:solidFill>
                  <a:srgbClr val="000000"/>
                </a:solidFill>
                <a:latin typeface="Georgia Bold"/>
                <a:ea typeface="Georgia Bold"/>
                <a:cs typeface="Georgia Bold"/>
                <a:sym typeface="Georgia Bold"/>
              </a:rPr>
              <a:t>logistic function</a:t>
            </a:r>
          </a:p>
          <a:p>
            <a:pPr algn="l" marL="1860233" indent="-465058" lvl="3">
              <a:lnSpc>
                <a:spcPts val="3240"/>
              </a:lnSpc>
              <a:buFont typeface="Arial"/>
              <a:buChar char="￭"/>
            </a:pPr>
            <a:r>
              <a:rPr lang="en-US" sz="2700">
                <a:solidFill>
                  <a:srgbClr val="000000"/>
                </a:solidFill>
                <a:latin typeface="Georgia"/>
                <a:ea typeface="Georgia"/>
                <a:cs typeface="Georgia"/>
                <a:sym typeface="Georgia"/>
              </a:rPr>
              <a:t>If we combine these equations we can write out the hypothesis as</a:t>
            </a:r>
          </a:p>
        </p:txBody>
      </p:sp>
      <p:grpSp>
        <p:nvGrpSpPr>
          <p:cNvPr name="Group 5" id="5"/>
          <p:cNvGrpSpPr/>
          <p:nvPr/>
        </p:nvGrpSpPr>
        <p:grpSpPr>
          <a:xfrm rot="0">
            <a:off x="6499822" y="7319294"/>
            <a:ext cx="2644178" cy="814873"/>
            <a:chOff x="0" y="0"/>
            <a:chExt cx="3525571" cy="1086498"/>
          </a:xfrm>
        </p:grpSpPr>
        <p:sp>
          <p:nvSpPr>
            <p:cNvPr name="Freeform 6" id="6"/>
            <p:cNvSpPr/>
            <p:nvPr/>
          </p:nvSpPr>
          <p:spPr>
            <a:xfrm flipH="false" flipV="false" rot="0">
              <a:off x="0" y="0"/>
              <a:ext cx="3525520" cy="1086485"/>
            </a:xfrm>
            <a:custGeom>
              <a:avLst/>
              <a:gdLst/>
              <a:ahLst/>
              <a:cxnLst/>
              <a:rect r="r" b="b" t="t" l="l"/>
              <a:pathLst>
                <a:path h="1086485" w="3525520">
                  <a:moveTo>
                    <a:pt x="0" y="0"/>
                  </a:moveTo>
                  <a:lnTo>
                    <a:pt x="3525520" y="0"/>
                  </a:lnTo>
                  <a:lnTo>
                    <a:pt x="3525520" y="1086485"/>
                  </a:lnTo>
                  <a:lnTo>
                    <a:pt x="0" y="1086485"/>
                  </a:lnTo>
                  <a:lnTo>
                    <a:pt x="0" y="0"/>
                  </a:lnTo>
                  <a:close/>
                </a:path>
              </a:pathLst>
            </a:custGeom>
            <a:blipFill>
              <a:blip r:embed="rId2"/>
              <a:stretch>
                <a:fillRect l="0" t="0" r="-1" b="-1"/>
              </a:stretch>
            </a:blipFill>
          </p:spPr>
        </p:sp>
      </p:grpSp>
      <p:grpSp>
        <p:nvGrpSpPr>
          <p:cNvPr name="Group 7" id="7"/>
          <p:cNvGrpSpPr/>
          <p:nvPr/>
        </p:nvGrpSpPr>
        <p:grpSpPr>
          <a:xfrm rot="0">
            <a:off x="6186353" y="8980270"/>
            <a:ext cx="2457181" cy="875547"/>
            <a:chOff x="0" y="0"/>
            <a:chExt cx="4972050" cy="1771650"/>
          </a:xfrm>
        </p:grpSpPr>
        <p:sp>
          <p:nvSpPr>
            <p:cNvPr name="Freeform 8" id="8" descr="http://www.holehouse.org/mlclass/06_Logistic_Regression_files/Image%20%5b1%5d.png"/>
            <p:cNvSpPr/>
            <p:nvPr/>
          </p:nvSpPr>
          <p:spPr>
            <a:xfrm flipH="false" flipV="false" rot="0">
              <a:off x="0" y="0"/>
              <a:ext cx="4972050" cy="1771650"/>
            </a:xfrm>
            <a:custGeom>
              <a:avLst/>
              <a:gdLst/>
              <a:ahLst/>
              <a:cxnLst/>
              <a:rect r="r" b="b" t="t" l="l"/>
              <a:pathLst>
                <a:path h="1771650" w="4972050">
                  <a:moveTo>
                    <a:pt x="0" y="0"/>
                  </a:moveTo>
                  <a:lnTo>
                    <a:pt x="4972050" y="0"/>
                  </a:lnTo>
                  <a:lnTo>
                    <a:pt x="4972050" y="1771650"/>
                  </a:lnTo>
                  <a:lnTo>
                    <a:pt x="0" y="1771650"/>
                  </a:lnTo>
                  <a:lnTo>
                    <a:pt x="0" y="0"/>
                  </a:lnTo>
                  <a:close/>
                </a:path>
              </a:pathLst>
            </a:custGeom>
            <a:blipFill>
              <a:blip r:embed="rId3"/>
              <a:stretch>
                <a:fillRect l="0" t="0" r="0" b="0"/>
              </a:stretch>
            </a:blipFill>
          </p:spPr>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647610" y="502766"/>
            <a:ext cx="9417556" cy="742950"/>
          </a:xfrm>
          <a:prstGeom prst="rect">
            <a:avLst/>
          </a:prstGeom>
        </p:spPr>
        <p:txBody>
          <a:bodyPr anchor="t" rtlCol="false" tIns="0" lIns="0" bIns="0" rIns="0">
            <a:spAutoFit/>
          </a:bodyPr>
          <a:lstStyle/>
          <a:p>
            <a:pPr algn="l">
              <a:lnSpc>
                <a:spcPts val="5759"/>
              </a:lnSpc>
            </a:pPr>
            <a:r>
              <a:rPr lang="en-US" b="true" sz="4800">
                <a:solidFill>
                  <a:srgbClr val="000000"/>
                </a:solidFill>
                <a:latin typeface="Arimo Bold"/>
                <a:ea typeface="Arimo Bold"/>
                <a:cs typeface="Arimo Bold"/>
                <a:sym typeface="Arimo Bold"/>
              </a:rPr>
              <a:t>LOGISTIC REGRESSION</a:t>
            </a:r>
          </a:p>
        </p:txBody>
      </p:sp>
      <p:sp>
        <p:nvSpPr>
          <p:cNvPr name="TextBox 3" id="3"/>
          <p:cNvSpPr txBox="true"/>
          <p:nvPr/>
        </p:nvSpPr>
        <p:spPr>
          <a:xfrm rot="0">
            <a:off x="1028700" y="1675046"/>
            <a:ext cx="7413807" cy="7391400"/>
          </a:xfrm>
          <a:prstGeom prst="rect">
            <a:avLst/>
          </a:prstGeom>
        </p:spPr>
        <p:txBody>
          <a:bodyPr anchor="t" rtlCol="false" tIns="0" lIns="0" bIns="0" rIns="0">
            <a:spAutoFit/>
          </a:bodyPr>
          <a:lstStyle/>
          <a:p>
            <a:pPr algn="l" marL="488632" indent="-244316" lvl="1">
              <a:lnSpc>
                <a:spcPts val="3240"/>
              </a:lnSpc>
              <a:buFont typeface="Arial"/>
              <a:buChar char="•"/>
            </a:pPr>
            <a:r>
              <a:rPr lang="en-US" sz="2700">
                <a:solidFill>
                  <a:srgbClr val="000000"/>
                </a:solidFill>
                <a:latin typeface="Georgia"/>
                <a:ea typeface="Georgia"/>
                <a:cs typeface="Georgia"/>
                <a:sym typeface="Georgia"/>
              </a:rPr>
              <a:t>How  does the sigmoid function look like</a:t>
            </a:r>
          </a:p>
          <a:p>
            <a:pPr algn="l" marL="488632" indent="-244316" lvl="1">
              <a:lnSpc>
                <a:spcPts val="3240"/>
              </a:lnSpc>
            </a:pPr>
          </a:p>
          <a:p>
            <a:pPr algn="l" marL="488632" indent="-244316" lvl="1">
              <a:lnSpc>
                <a:spcPts val="3240"/>
              </a:lnSpc>
            </a:pPr>
          </a:p>
          <a:p>
            <a:pPr algn="l" marL="488632" indent="-244316" lvl="1">
              <a:lnSpc>
                <a:spcPts val="3240"/>
              </a:lnSpc>
            </a:pPr>
          </a:p>
          <a:p>
            <a:pPr algn="l" marL="488632" indent="-244316" lvl="1">
              <a:lnSpc>
                <a:spcPts val="3240"/>
              </a:lnSpc>
            </a:pPr>
          </a:p>
          <a:p>
            <a:pPr algn="l" marL="488632" indent="-244316" lvl="1">
              <a:lnSpc>
                <a:spcPts val="3240"/>
              </a:lnSpc>
            </a:pPr>
          </a:p>
          <a:p>
            <a:pPr algn="l" marL="488632" indent="-244316" lvl="1">
              <a:lnSpc>
                <a:spcPts val="3240"/>
              </a:lnSpc>
            </a:pPr>
          </a:p>
          <a:p>
            <a:pPr algn="l" marL="488632" indent="-244316" lvl="1">
              <a:lnSpc>
                <a:spcPts val="3240"/>
              </a:lnSpc>
            </a:pPr>
          </a:p>
          <a:p>
            <a:pPr algn="l" marL="488632" indent="-244316" lvl="1">
              <a:lnSpc>
                <a:spcPts val="3240"/>
              </a:lnSpc>
            </a:pPr>
          </a:p>
          <a:p>
            <a:pPr algn="l" marL="488632" indent="-244316" lvl="1">
              <a:lnSpc>
                <a:spcPts val="3240"/>
              </a:lnSpc>
            </a:pPr>
          </a:p>
          <a:p>
            <a:pPr algn="l" marL="488632" indent="-244316" lvl="1">
              <a:lnSpc>
                <a:spcPts val="3240"/>
              </a:lnSpc>
            </a:pPr>
          </a:p>
          <a:p>
            <a:pPr algn="l">
              <a:lnSpc>
                <a:spcPts val="3240"/>
              </a:lnSpc>
            </a:pPr>
          </a:p>
          <a:p>
            <a:pPr algn="l" marL="488632" indent="-244316" lvl="1">
              <a:lnSpc>
                <a:spcPts val="3240"/>
              </a:lnSpc>
            </a:pPr>
          </a:p>
          <a:p>
            <a:pPr algn="l" marL="488632" indent="-244316" lvl="1">
              <a:lnSpc>
                <a:spcPts val="3240"/>
              </a:lnSpc>
            </a:pPr>
          </a:p>
          <a:p>
            <a:pPr algn="l" marL="488632" indent="-244316" lvl="1">
              <a:lnSpc>
                <a:spcPts val="3240"/>
              </a:lnSpc>
              <a:buFont typeface="Arial"/>
              <a:buChar char="•"/>
            </a:pPr>
            <a:r>
              <a:rPr lang="en-US" sz="2700">
                <a:solidFill>
                  <a:srgbClr val="000000"/>
                </a:solidFill>
                <a:latin typeface="Georgia"/>
                <a:ea typeface="Georgia"/>
                <a:cs typeface="Georgia"/>
                <a:sym typeface="Georgia"/>
              </a:rPr>
              <a:t>Crosses 0.5 at the origin, then flattens out]</a:t>
            </a:r>
          </a:p>
          <a:p>
            <a:pPr algn="l" marL="1174432" indent="-391478" lvl="2">
              <a:lnSpc>
                <a:spcPts val="3240"/>
              </a:lnSpc>
              <a:buFont typeface="Arial"/>
              <a:buChar char="⚬"/>
            </a:pPr>
            <a:r>
              <a:rPr lang="en-US" sz="2700">
                <a:solidFill>
                  <a:srgbClr val="000000"/>
                </a:solidFill>
                <a:latin typeface="Georgia"/>
                <a:ea typeface="Georgia"/>
                <a:cs typeface="Georgia"/>
                <a:sym typeface="Georgia"/>
              </a:rPr>
              <a:t>Asymptotes at 0 and 1</a:t>
            </a:r>
          </a:p>
          <a:p>
            <a:pPr algn="l" marL="1174432" indent="-391478" lvl="2">
              <a:lnSpc>
                <a:spcPts val="3240"/>
              </a:lnSpc>
            </a:pPr>
          </a:p>
          <a:p>
            <a:pPr algn="l" marL="1174432" indent="-391478" lvl="2">
              <a:lnSpc>
                <a:spcPts val="3240"/>
              </a:lnSpc>
            </a:pPr>
          </a:p>
        </p:txBody>
      </p:sp>
      <p:grpSp>
        <p:nvGrpSpPr>
          <p:cNvPr name="Group 4" id="4"/>
          <p:cNvGrpSpPr/>
          <p:nvPr/>
        </p:nvGrpSpPr>
        <p:grpSpPr>
          <a:xfrm rot="0">
            <a:off x="5080129" y="2200493"/>
            <a:ext cx="10912624" cy="5042563"/>
            <a:chOff x="0" y="0"/>
            <a:chExt cx="15430043" cy="7129996"/>
          </a:xfrm>
        </p:grpSpPr>
        <p:sp>
          <p:nvSpPr>
            <p:cNvPr name="Freeform 5" id="5" descr="http://www.holehouse.org/mlclass/06_Logistic_Regression_files/Image%20%5b2%5d.png"/>
            <p:cNvSpPr/>
            <p:nvPr/>
          </p:nvSpPr>
          <p:spPr>
            <a:xfrm flipH="false" flipV="false" rot="0">
              <a:off x="0" y="0"/>
              <a:ext cx="15429992" cy="7130034"/>
            </a:xfrm>
            <a:custGeom>
              <a:avLst/>
              <a:gdLst/>
              <a:ahLst/>
              <a:cxnLst/>
              <a:rect r="r" b="b" t="t" l="l"/>
              <a:pathLst>
                <a:path h="7130034" w="15429992">
                  <a:moveTo>
                    <a:pt x="0" y="0"/>
                  </a:moveTo>
                  <a:lnTo>
                    <a:pt x="15429992" y="0"/>
                  </a:lnTo>
                  <a:lnTo>
                    <a:pt x="15429992" y="7130034"/>
                  </a:lnTo>
                  <a:lnTo>
                    <a:pt x="0" y="7130034"/>
                  </a:lnTo>
                  <a:lnTo>
                    <a:pt x="0" y="0"/>
                  </a:lnTo>
                  <a:close/>
                </a:path>
              </a:pathLst>
            </a:custGeom>
            <a:blipFill>
              <a:blip r:embed="rId2"/>
              <a:stretch>
                <a:fillRect l="0" t="0" r="0" b="0"/>
              </a:stretch>
            </a:blipFill>
          </p:spPr>
        </p:sp>
      </p:grpSp>
    </p:spTree>
  </p:cSld>
  <p:clrMapOvr>
    <a:masterClrMapping/>
  </p:clrMapOvr>
</p:sld>
</file>

<file path=ppt/slides/slide3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41548" y="773390"/>
            <a:ext cx="13948762" cy="8890635"/>
          </a:xfrm>
          <a:prstGeom prst="rect">
            <a:avLst/>
          </a:prstGeom>
        </p:spPr>
        <p:txBody>
          <a:bodyPr anchor="t" rtlCol="false" tIns="0" lIns="0" bIns="0" rIns="0">
            <a:spAutoFit/>
          </a:bodyPr>
          <a:lstStyle/>
          <a:p>
            <a:pPr algn="l" marL="488632" indent="-244316" lvl="1">
              <a:lnSpc>
                <a:spcPts val="4185"/>
              </a:lnSpc>
              <a:buFont typeface="Arial"/>
              <a:buChar char="•"/>
            </a:pPr>
            <a:r>
              <a:rPr lang="en-US" b="true" sz="2700">
                <a:solidFill>
                  <a:srgbClr val="000000"/>
                </a:solidFill>
                <a:latin typeface="Georgia Bold"/>
                <a:ea typeface="Georgia Bold"/>
                <a:cs typeface="Georgia Bold"/>
                <a:sym typeface="Georgia Bold"/>
              </a:rPr>
              <a:t>Interpreting hypothesis output</a:t>
            </a:r>
          </a:p>
          <a:p>
            <a:pPr algn="l" marL="488632" indent="-244316" lvl="1">
              <a:lnSpc>
                <a:spcPts val="4185"/>
              </a:lnSpc>
            </a:pPr>
          </a:p>
          <a:p>
            <a:pPr algn="l" marL="488632" indent="-244316" lvl="1">
              <a:lnSpc>
                <a:spcPts val="4185"/>
              </a:lnSpc>
            </a:pPr>
            <a:r>
              <a:rPr lang="en-US" sz="2700">
                <a:solidFill>
                  <a:srgbClr val="000000"/>
                </a:solidFill>
                <a:latin typeface="Arimo"/>
                <a:ea typeface="Arimo"/>
                <a:cs typeface="Arimo"/>
                <a:sym typeface="Arimo"/>
              </a:rPr>
              <a:t>When our hypothesis (hθ(x)) outputs a number, we treat that value as the estimated probability that y=1 on input x</a:t>
            </a:r>
          </a:p>
          <a:p>
            <a:pPr algn="l" marL="1174432" indent="-391478" lvl="2">
              <a:lnSpc>
                <a:spcPts val="4185"/>
              </a:lnSpc>
              <a:buFont typeface="Arial"/>
              <a:buChar char="⚬"/>
            </a:pPr>
            <a:r>
              <a:rPr lang="en-US" sz="2700">
                <a:solidFill>
                  <a:srgbClr val="000000"/>
                </a:solidFill>
                <a:latin typeface="Georgia"/>
                <a:ea typeface="Georgia"/>
                <a:cs typeface="Georgia"/>
                <a:sym typeface="Georgia"/>
              </a:rPr>
              <a:t>Example</a:t>
            </a:r>
          </a:p>
          <a:p>
            <a:pPr algn="l" marL="1860233" indent="-465058" lvl="3">
              <a:lnSpc>
                <a:spcPts val="4185"/>
              </a:lnSpc>
              <a:buFont typeface="Arial"/>
              <a:buChar char="￭"/>
            </a:pPr>
            <a:r>
              <a:rPr lang="en-US" sz="2700">
                <a:solidFill>
                  <a:srgbClr val="000000"/>
                </a:solidFill>
                <a:latin typeface="Georgia"/>
                <a:ea typeface="Georgia"/>
                <a:cs typeface="Georgia"/>
                <a:sym typeface="Georgia"/>
              </a:rPr>
              <a:t>If X is a feature vector with x₀ = 1 (as always) and x₁ = tumourSize</a:t>
            </a:r>
          </a:p>
          <a:p>
            <a:pPr algn="l" marL="1860233" indent="-465058" lvl="3">
              <a:lnSpc>
                <a:spcPts val="4185"/>
              </a:lnSpc>
              <a:buFont typeface="Arial"/>
              <a:buChar char="￭"/>
            </a:pPr>
            <a:r>
              <a:rPr lang="en-US" sz="2700">
                <a:solidFill>
                  <a:srgbClr val="000000"/>
                </a:solidFill>
                <a:latin typeface="Georgia"/>
                <a:ea typeface="Georgia"/>
                <a:cs typeface="Georgia"/>
                <a:sym typeface="Georgia"/>
              </a:rPr>
              <a:t>hθ(x) = 0.7</a:t>
            </a:r>
          </a:p>
          <a:p>
            <a:pPr algn="l" marL="2546033" indent="-509207" lvl="4">
              <a:lnSpc>
                <a:spcPts val="4185"/>
              </a:lnSpc>
              <a:buFont typeface="Arial"/>
              <a:buChar char="•"/>
            </a:pPr>
            <a:r>
              <a:rPr lang="en-US" sz="2700">
                <a:solidFill>
                  <a:srgbClr val="000000"/>
                </a:solidFill>
                <a:latin typeface="Georgia"/>
                <a:ea typeface="Georgia"/>
                <a:cs typeface="Georgia"/>
                <a:sym typeface="Georgia"/>
              </a:rPr>
              <a:t>Tells a patient they have a 70% chance of a tumor being malignant</a:t>
            </a:r>
          </a:p>
          <a:p>
            <a:pPr algn="l" marL="2546033" indent="-509207" lvl="4">
              <a:lnSpc>
                <a:spcPts val="4185"/>
              </a:lnSpc>
            </a:pPr>
            <a:r>
              <a:rPr lang="en-US" sz="2700">
                <a:solidFill>
                  <a:srgbClr val="000000"/>
                </a:solidFill>
                <a:latin typeface="Georgia"/>
                <a:ea typeface="Georgia"/>
                <a:cs typeface="Georgia"/>
                <a:sym typeface="Georgia"/>
              </a:rPr>
              <a:t>hθ(x) = P(y=1|x ; θ)</a:t>
            </a:r>
          </a:p>
          <a:p>
            <a:pPr algn="l" marL="1174432" indent="-391478" lvl="2">
              <a:lnSpc>
                <a:spcPts val="4185"/>
              </a:lnSpc>
              <a:buFont typeface="Arial"/>
              <a:buChar char="⚬"/>
            </a:pPr>
            <a:r>
              <a:rPr lang="en-US" sz="2700">
                <a:solidFill>
                  <a:srgbClr val="000000"/>
                </a:solidFill>
                <a:latin typeface="Georgia"/>
                <a:ea typeface="Georgia"/>
                <a:cs typeface="Georgia"/>
                <a:sym typeface="Georgia"/>
              </a:rPr>
              <a:t>What does this mean?</a:t>
            </a:r>
          </a:p>
          <a:p>
            <a:pPr algn="l" marL="1860233" indent="-465058" lvl="3">
              <a:lnSpc>
                <a:spcPts val="4185"/>
              </a:lnSpc>
              <a:buFont typeface="Arial"/>
              <a:buChar char="￭"/>
            </a:pPr>
            <a:r>
              <a:rPr lang="en-US" sz="2700">
                <a:solidFill>
                  <a:srgbClr val="000000"/>
                </a:solidFill>
                <a:latin typeface="Georgia"/>
                <a:ea typeface="Georgia"/>
                <a:cs typeface="Georgia"/>
                <a:sym typeface="Georgia"/>
              </a:rPr>
              <a:t>Probability that y=1, given x, parameterized by θ</a:t>
            </a:r>
          </a:p>
          <a:p>
            <a:pPr algn="l" marL="488632" indent="-244316" lvl="1">
              <a:lnSpc>
                <a:spcPts val="4185"/>
              </a:lnSpc>
              <a:buFont typeface="Arial"/>
              <a:buChar char="•"/>
            </a:pPr>
            <a:r>
              <a:rPr lang="en-US" sz="2700">
                <a:solidFill>
                  <a:srgbClr val="000000"/>
                </a:solidFill>
                <a:latin typeface="Georgia"/>
                <a:ea typeface="Georgia"/>
                <a:cs typeface="Georgia"/>
                <a:sym typeface="Georgia"/>
              </a:rPr>
              <a:t>Since this is a binary classification task we know y = 0 or 1</a:t>
            </a:r>
          </a:p>
          <a:p>
            <a:pPr algn="l" marL="1174432" indent="-391478" lvl="2">
              <a:lnSpc>
                <a:spcPts val="4185"/>
              </a:lnSpc>
              <a:buFont typeface="Arial"/>
              <a:buChar char="⚬"/>
            </a:pPr>
            <a:r>
              <a:rPr lang="en-US" sz="2700">
                <a:solidFill>
                  <a:srgbClr val="000000"/>
                </a:solidFill>
                <a:latin typeface="Georgia"/>
                <a:ea typeface="Georgia"/>
                <a:cs typeface="Georgia"/>
                <a:sym typeface="Georgia"/>
              </a:rPr>
              <a:t>So the following must be true</a:t>
            </a:r>
          </a:p>
          <a:p>
            <a:pPr algn="l" marL="1860233" indent="-465058" lvl="3">
              <a:lnSpc>
                <a:spcPts val="4185"/>
              </a:lnSpc>
              <a:buFont typeface="Arial"/>
              <a:buChar char="￭"/>
            </a:pPr>
            <a:r>
              <a:rPr lang="en-US" sz="2700">
                <a:solidFill>
                  <a:srgbClr val="000000"/>
                </a:solidFill>
                <a:latin typeface="Georgia"/>
                <a:ea typeface="Georgia"/>
                <a:cs typeface="Georgia"/>
                <a:sym typeface="Georgia"/>
              </a:rPr>
              <a:t>P(y=1|x ; θ) + P(y=0|x ; θ) = 1</a:t>
            </a:r>
          </a:p>
          <a:p>
            <a:pPr algn="l" marL="1860233" indent="-465058" lvl="3">
              <a:lnSpc>
                <a:spcPts val="4185"/>
              </a:lnSpc>
              <a:buFont typeface="Arial"/>
              <a:buChar char="￭"/>
            </a:pPr>
            <a:r>
              <a:rPr lang="en-US" sz="2700">
                <a:solidFill>
                  <a:srgbClr val="000000"/>
                </a:solidFill>
                <a:latin typeface="Georgia"/>
                <a:ea typeface="Georgia"/>
                <a:cs typeface="Georgia"/>
                <a:sym typeface="Georgia"/>
              </a:rPr>
              <a:t>P(y=0|x ; θ) = 1 - P(y=1|x ; θ)</a:t>
            </a:r>
          </a:p>
          <a:p>
            <a:pPr algn="l" marL="1860233" indent="-465058" lvl="3">
              <a:lnSpc>
                <a:spcPts val="4185"/>
              </a:lnSpc>
            </a:pPr>
          </a:p>
          <a:p>
            <a:pPr algn="l" marL="1860233" indent="-465058" lvl="3">
              <a:lnSpc>
                <a:spcPts val="4185"/>
              </a:lnSpc>
            </a:pPr>
          </a:p>
        </p:txBody>
      </p:sp>
    </p:spTree>
  </p:cSld>
  <p:clrMapOvr>
    <a:masterClrMapping/>
  </p:clrMapOvr>
</p:sld>
</file>

<file path=ppt/slides/slide3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341548" y="773390"/>
            <a:ext cx="13948762" cy="8890635"/>
          </a:xfrm>
          <a:prstGeom prst="rect">
            <a:avLst/>
          </a:prstGeom>
        </p:spPr>
        <p:txBody>
          <a:bodyPr anchor="t" rtlCol="false" tIns="0" lIns="0" bIns="0" rIns="0">
            <a:spAutoFit/>
          </a:bodyPr>
          <a:lstStyle/>
          <a:p>
            <a:pPr algn="l" marL="488632" indent="-244316" lvl="1">
              <a:lnSpc>
                <a:spcPts val="4185"/>
              </a:lnSpc>
              <a:buFont typeface="Arial"/>
              <a:buChar char="•"/>
            </a:pPr>
            <a:r>
              <a:rPr lang="en-US" b="true" sz="2700">
                <a:solidFill>
                  <a:srgbClr val="000000"/>
                </a:solidFill>
                <a:latin typeface="Georgia Bold"/>
                <a:ea typeface="Georgia Bold"/>
                <a:cs typeface="Georgia Bold"/>
                <a:sym typeface="Georgia Bold"/>
              </a:rPr>
              <a:t>Interpreting hypothesis output</a:t>
            </a:r>
          </a:p>
          <a:p>
            <a:pPr algn="l" marL="488632" indent="-244316" lvl="1">
              <a:lnSpc>
                <a:spcPts val="4185"/>
              </a:lnSpc>
            </a:pPr>
          </a:p>
          <a:p>
            <a:pPr algn="l" marL="488632" indent="-244316" lvl="1">
              <a:lnSpc>
                <a:spcPts val="4185"/>
              </a:lnSpc>
            </a:pPr>
            <a:r>
              <a:rPr lang="en-US" sz="2700">
                <a:solidFill>
                  <a:srgbClr val="000000"/>
                </a:solidFill>
                <a:latin typeface="Arimo"/>
                <a:ea typeface="Arimo"/>
                <a:cs typeface="Arimo"/>
                <a:sym typeface="Arimo"/>
              </a:rPr>
              <a:t>When our hypothesis (hθ(x)) outputs a number, we treat that value as the estimated probability that y=1 on input x</a:t>
            </a:r>
          </a:p>
          <a:p>
            <a:pPr algn="l" marL="1174432" indent="-391478" lvl="2">
              <a:lnSpc>
                <a:spcPts val="4185"/>
              </a:lnSpc>
              <a:buFont typeface="Arial"/>
              <a:buChar char="⚬"/>
            </a:pPr>
            <a:r>
              <a:rPr lang="en-US" sz="2700">
                <a:solidFill>
                  <a:srgbClr val="000000"/>
                </a:solidFill>
                <a:latin typeface="Georgia"/>
                <a:ea typeface="Georgia"/>
                <a:cs typeface="Georgia"/>
                <a:sym typeface="Georgia"/>
              </a:rPr>
              <a:t>Example</a:t>
            </a:r>
          </a:p>
          <a:p>
            <a:pPr algn="l" marL="1860233" indent="-465058" lvl="3">
              <a:lnSpc>
                <a:spcPts val="4185"/>
              </a:lnSpc>
              <a:buFont typeface="Arial"/>
              <a:buChar char="￭"/>
            </a:pPr>
            <a:r>
              <a:rPr lang="en-US" sz="2700">
                <a:solidFill>
                  <a:srgbClr val="000000"/>
                </a:solidFill>
                <a:latin typeface="Georgia"/>
                <a:ea typeface="Georgia"/>
                <a:cs typeface="Georgia"/>
                <a:sym typeface="Georgia"/>
              </a:rPr>
              <a:t>If X is a feature vector with x₀ = 1 (as always) and x₁ = tumourSize</a:t>
            </a:r>
          </a:p>
          <a:p>
            <a:pPr algn="l" marL="1860233" indent="-465058" lvl="3">
              <a:lnSpc>
                <a:spcPts val="4185"/>
              </a:lnSpc>
              <a:buFont typeface="Arial"/>
              <a:buChar char="￭"/>
            </a:pPr>
            <a:r>
              <a:rPr lang="en-US" sz="2700">
                <a:solidFill>
                  <a:srgbClr val="000000"/>
                </a:solidFill>
                <a:latin typeface="Georgia"/>
                <a:ea typeface="Georgia"/>
                <a:cs typeface="Georgia"/>
                <a:sym typeface="Georgia"/>
              </a:rPr>
              <a:t>hθ(x) = 0.7</a:t>
            </a:r>
          </a:p>
          <a:p>
            <a:pPr algn="l" marL="2546033" indent="-509207" lvl="4">
              <a:lnSpc>
                <a:spcPts val="4185"/>
              </a:lnSpc>
              <a:buFont typeface="Arial"/>
              <a:buChar char="•"/>
            </a:pPr>
            <a:r>
              <a:rPr lang="en-US" sz="2700">
                <a:solidFill>
                  <a:srgbClr val="000000"/>
                </a:solidFill>
                <a:latin typeface="Georgia"/>
                <a:ea typeface="Georgia"/>
                <a:cs typeface="Georgia"/>
                <a:sym typeface="Georgia"/>
              </a:rPr>
              <a:t>Tells a patient they have a 70% chance of a tumor being malignant</a:t>
            </a:r>
          </a:p>
          <a:p>
            <a:pPr algn="l" marL="2546033" indent="-509207" lvl="4">
              <a:lnSpc>
                <a:spcPts val="4185"/>
              </a:lnSpc>
            </a:pPr>
            <a:r>
              <a:rPr lang="en-US" sz="2700">
                <a:solidFill>
                  <a:srgbClr val="000000"/>
                </a:solidFill>
                <a:latin typeface="Georgia"/>
                <a:ea typeface="Georgia"/>
                <a:cs typeface="Georgia"/>
                <a:sym typeface="Georgia"/>
              </a:rPr>
              <a:t>hθ(x) = P(y=1|x ; θ)</a:t>
            </a:r>
          </a:p>
          <a:p>
            <a:pPr algn="l" marL="1174432" indent="-391478" lvl="2">
              <a:lnSpc>
                <a:spcPts val="4185"/>
              </a:lnSpc>
              <a:buFont typeface="Arial"/>
              <a:buChar char="⚬"/>
            </a:pPr>
            <a:r>
              <a:rPr lang="en-US" sz="2700">
                <a:solidFill>
                  <a:srgbClr val="000000"/>
                </a:solidFill>
                <a:latin typeface="Georgia"/>
                <a:ea typeface="Georgia"/>
                <a:cs typeface="Georgia"/>
                <a:sym typeface="Georgia"/>
              </a:rPr>
              <a:t>What does this mean?</a:t>
            </a:r>
          </a:p>
          <a:p>
            <a:pPr algn="l" marL="1860233" indent="-465058" lvl="3">
              <a:lnSpc>
                <a:spcPts val="4185"/>
              </a:lnSpc>
              <a:buFont typeface="Arial"/>
              <a:buChar char="￭"/>
            </a:pPr>
            <a:r>
              <a:rPr lang="en-US" sz="2700">
                <a:solidFill>
                  <a:srgbClr val="000000"/>
                </a:solidFill>
                <a:latin typeface="Georgia"/>
                <a:ea typeface="Georgia"/>
                <a:cs typeface="Georgia"/>
                <a:sym typeface="Georgia"/>
              </a:rPr>
              <a:t>Probability that y=1, given x, parameterized by θ</a:t>
            </a:r>
          </a:p>
          <a:p>
            <a:pPr algn="l" marL="488632" indent="-244316" lvl="1">
              <a:lnSpc>
                <a:spcPts val="4185"/>
              </a:lnSpc>
              <a:buFont typeface="Arial"/>
              <a:buChar char="•"/>
            </a:pPr>
            <a:r>
              <a:rPr lang="en-US" sz="2700">
                <a:solidFill>
                  <a:srgbClr val="000000"/>
                </a:solidFill>
                <a:latin typeface="Georgia"/>
                <a:ea typeface="Georgia"/>
                <a:cs typeface="Georgia"/>
                <a:sym typeface="Georgia"/>
              </a:rPr>
              <a:t>Since this is a binary classification task we know y = 0 or 1</a:t>
            </a:r>
          </a:p>
          <a:p>
            <a:pPr algn="l" marL="1174432" indent="-391478" lvl="2">
              <a:lnSpc>
                <a:spcPts val="4185"/>
              </a:lnSpc>
              <a:buFont typeface="Arial"/>
              <a:buChar char="⚬"/>
            </a:pPr>
            <a:r>
              <a:rPr lang="en-US" sz="2700">
                <a:solidFill>
                  <a:srgbClr val="000000"/>
                </a:solidFill>
                <a:latin typeface="Georgia"/>
                <a:ea typeface="Georgia"/>
                <a:cs typeface="Georgia"/>
                <a:sym typeface="Georgia"/>
              </a:rPr>
              <a:t>So the following must be true</a:t>
            </a:r>
          </a:p>
          <a:p>
            <a:pPr algn="l" marL="1860233" indent="-465058" lvl="3">
              <a:lnSpc>
                <a:spcPts val="4185"/>
              </a:lnSpc>
              <a:buFont typeface="Arial"/>
              <a:buChar char="￭"/>
            </a:pPr>
            <a:r>
              <a:rPr lang="en-US" sz="2700">
                <a:solidFill>
                  <a:srgbClr val="000000"/>
                </a:solidFill>
                <a:latin typeface="Georgia"/>
                <a:ea typeface="Georgia"/>
                <a:cs typeface="Georgia"/>
                <a:sym typeface="Georgia"/>
              </a:rPr>
              <a:t>P(y=1|x ; θ) + P(y=0|x ; θ) = 1</a:t>
            </a:r>
          </a:p>
          <a:p>
            <a:pPr algn="l" marL="1860233" indent="-465058" lvl="3">
              <a:lnSpc>
                <a:spcPts val="4185"/>
              </a:lnSpc>
              <a:buFont typeface="Arial"/>
              <a:buChar char="￭"/>
            </a:pPr>
            <a:r>
              <a:rPr lang="en-US" sz="2700">
                <a:solidFill>
                  <a:srgbClr val="000000"/>
                </a:solidFill>
                <a:latin typeface="Georgia"/>
                <a:ea typeface="Georgia"/>
                <a:cs typeface="Georgia"/>
                <a:sym typeface="Georgia"/>
              </a:rPr>
              <a:t>P(y=0|x ; θ) = 1 - P(y=1|x ; θ)</a:t>
            </a:r>
          </a:p>
          <a:p>
            <a:pPr algn="l" marL="1860233" indent="-465058" lvl="3">
              <a:lnSpc>
                <a:spcPts val="4185"/>
              </a:lnSpc>
            </a:pPr>
          </a:p>
          <a:p>
            <a:pPr algn="l" marL="1860233" indent="-465058" lvl="3">
              <a:lnSpc>
                <a:spcPts val="4185"/>
              </a:lnSpc>
            </a:pPr>
          </a:p>
        </p:txBody>
      </p:sp>
    </p:spTree>
  </p:cSld>
  <p:clrMapOvr>
    <a:masterClrMapping/>
  </p:clrMapOvr>
</p:sld>
</file>

<file path=ppt/slides/slide3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361375" y="3885278"/>
            <a:ext cx="7017425" cy="2190750"/>
          </a:xfrm>
          <a:prstGeom prst="rect">
            <a:avLst/>
          </a:prstGeom>
        </p:spPr>
        <p:txBody>
          <a:bodyPr anchor="t" rtlCol="false" tIns="0" lIns="0" bIns="0" rIns="0">
            <a:spAutoFit/>
          </a:bodyPr>
          <a:lstStyle/>
          <a:p>
            <a:pPr algn="l" marL="0" indent="0" lvl="0">
              <a:lnSpc>
                <a:spcPts val="8640"/>
              </a:lnSpc>
              <a:spcBef>
                <a:spcPct val="0"/>
              </a:spcBef>
            </a:pPr>
            <a:r>
              <a:rPr lang="en-US" b="true" sz="7200" spc="-144" strike="noStrike" u="none">
                <a:solidFill>
                  <a:srgbClr val="000000"/>
                </a:solidFill>
                <a:latin typeface="Garet Bold"/>
                <a:ea typeface="Garet Bold"/>
                <a:cs typeface="Garet Bold"/>
                <a:sym typeface="Garet Bold"/>
              </a:rPr>
              <a:t>Thank you for your attention</a:t>
            </a:r>
          </a:p>
        </p:txBody>
      </p:sp>
      <p:sp>
        <p:nvSpPr>
          <p:cNvPr name="TextBox 3" id="3"/>
          <p:cNvSpPr txBox="true"/>
          <p:nvPr/>
        </p:nvSpPr>
        <p:spPr>
          <a:xfrm rot="0">
            <a:off x="8782270" y="6319526"/>
            <a:ext cx="4465242" cy="440690"/>
          </a:xfrm>
          <a:prstGeom prst="rect">
            <a:avLst/>
          </a:prstGeom>
        </p:spPr>
        <p:txBody>
          <a:bodyPr anchor="t" rtlCol="false" tIns="0" lIns="0" bIns="0" rIns="0">
            <a:spAutoFit/>
          </a:bodyPr>
          <a:lstStyle/>
          <a:p>
            <a:pPr algn="l">
              <a:lnSpc>
                <a:spcPts val="3519"/>
              </a:lnSpc>
            </a:pPr>
            <a:r>
              <a:rPr lang="en-US" sz="3199" spc="-31">
                <a:solidFill>
                  <a:srgbClr val="A6A6A6"/>
                </a:solidFill>
                <a:latin typeface="Garet"/>
                <a:ea typeface="Garet"/>
                <a:cs typeface="Garet"/>
                <a:sym typeface="Garet"/>
              </a:rPr>
              <a:t>Onesime mbulayi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DAXD4g5R0DU</dc:identifier>
  <dcterms:modified xsi:type="dcterms:W3CDTF">2011-08-01T06:04:30Z</dcterms:modified>
  <cp:revision>1</cp:revision>
  <dc:title>2. Formation en Machine Learning niveau intermédiaire : Regression </dc:title>
</cp:coreProperties>
</file>